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40"/>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C9A84C"/>
          </a:solidFill>
          <a:ln w="12700">
            <a:solidFill>
              <a:srgbClr val="C9A84C"/>
            </a:solidFill>
            <a:prstDash val="solid"/>
          </a:ln>
        </p:spPr>
      </p:sp>
      <p:sp>
        <p:nvSpPr>
          <p:cNvPr id="3" name="Text 1"/>
          <p:cNvSpPr/>
          <p:nvPr/>
        </p:nvSpPr>
        <p:spPr>
          <a:xfrm>
            <a:off x="594360" y="914400"/>
            <a:ext cx="7772400" cy="1005840"/>
          </a:xfrm>
          <a:prstGeom prst="rect">
            <a:avLst/>
          </a:prstGeom>
          <a:noFill/>
          <a:ln/>
        </p:spPr>
        <p:txBody>
          <a:bodyPr wrap="square" lIns="0" tIns="0" rIns="0" bIns="0" rtlCol="0" anchor="ctr"/>
          <a:lstStyle/>
          <a:p>
            <a:pPr indent="0" marL="0">
              <a:buNone/>
            </a:pPr>
            <a:r>
              <a:rPr lang="en-US" sz="6000" b="1" spc="800" kern="0" dirty="0">
                <a:solidFill>
                  <a:srgbClr val="FFFFFF"/>
                </a:solidFill>
                <a:latin typeface="Georgia" pitchFamily="34" charset="0"/>
                <a:ea typeface="Georgia" pitchFamily="34" charset="-122"/>
                <a:cs typeface="Georgia" pitchFamily="34" charset="-120"/>
              </a:rPr>
              <a:t>DAVENPORT</a:t>
            </a:r>
            <a:endParaRPr lang="en-US" sz="6000" dirty="0"/>
          </a:p>
        </p:txBody>
      </p:sp>
      <p:sp>
        <p:nvSpPr>
          <p:cNvPr id="4" name="Text 2"/>
          <p:cNvSpPr/>
          <p:nvPr/>
        </p:nvSpPr>
        <p:spPr>
          <a:xfrm>
            <a:off x="594360" y="1828800"/>
            <a:ext cx="7772400" cy="1005840"/>
          </a:xfrm>
          <a:prstGeom prst="rect">
            <a:avLst/>
          </a:prstGeom>
          <a:noFill/>
          <a:ln/>
        </p:spPr>
        <p:txBody>
          <a:bodyPr wrap="square" lIns="0" tIns="0" rIns="0" bIns="0" rtlCol="0" anchor="ctr"/>
          <a:lstStyle/>
          <a:p>
            <a:pPr indent="0" marL="0">
              <a:buNone/>
            </a:pPr>
            <a:r>
              <a:rPr lang="en-US" sz="6000" b="1" spc="800" kern="0" dirty="0">
                <a:solidFill>
                  <a:srgbClr val="C9A84C"/>
                </a:solidFill>
                <a:latin typeface="Georgia" pitchFamily="34" charset="0"/>
                <a:ea typeface="Georgia" pitchFamily="34" charset="-122"/>
                <a:cs typeface="Georgia" pitchFamily="34" charset="-120"/>
              </a:rPr>
              <a:t>WARDROBE</a:t>
            </a:r>
            <a:endParaRPr lang="en-US" sz="6000" dirty="0"/>
          </a:p>
        </p:txBody>
      </p:sp>
      <p:sp>
        <p:nvSpPr>
          <p:cNvPr id="5" name="Text 3"/>
          <p:cNvSpPr/>
          <p:nvPr/>
        </p:nvSpPr>
        <p:spPr>
          <a:xfrm>
            <a:off x="594360" y="3017520"/>
            <a:ext cx="5486400" cy="457200"/>
          </a:xfrm>
          <a:prstGeom prst="rect">
            <a:avLst/>
          </a:prstGeom>
          <a:noFill/>
          <a:ln/>
        </p:spPr>
        <p:txBody>
          <a:bodyPr wrap="square" lIns="0" tIns="0" rIns="0" bIns="0" rtlCol="0" anchor="ctr"/>
          <a:lstStyle/>
          <a:p>
            <a:pPr indent="0" marL="0">
              <a:buNone/>
            </a:pPr>
            <a:r>
              <a:rPr lang="en-US" sz="1400" spc="200" kern="0" dirty="0">
                <a:solidFill>
                  <a:srgbClr val="AAAAAA"/>
                </a:solidFill>
                <a:latin typeface="Calibri" pitchFamily="34" charset="0"/>
                <a:ea typeface="Calibri" pitchFamily="34" charset="-122"/>
                <a:cs typeface="Calibri" pitchFamily="34" charset="-120"/>
              </a:rPr>
              <a:t>Pitch Formats  2025</a:t>
            </a:r>
            <a:endParaRPr lang="en-US" sz="1400" dirty="0"/>
          </a:p>
        </p:txBody>
      </p:sp>
      <p:sp>
        <p:nvSpPr>
          <p:cNvPr id="6" name="Text 4"/>
          <p:cNvSpPr/>
          <p:nvPr/>
        </p:nvSpPr>
        <p:spPr>
          <a:xfrm>
            <a:off x="594360" y="3566160"/>
            <a:ext cx="7315200" cy="822960"/>
          </a:xfrm>
          <a:prstGeom prst="rect">
            <a:avLst/>
          </a:prstGeom>
          <a:noFill/>
          <a:ln/>
        </p:spPr>
        <p:txBody>
          <a:bodyPr wrap="square" lIns="0" tIns="0" rIns="0" bIns="0" rtlCol="0" anchor="ctr"/>
          <a:lstStyle/>
          <a:p>
            <a:pPr indent="0" marL="0">
              <a:buNone/>
            </a:pPr>
            <a:r>
              <a:rPr lang="en-US" sz="1500" dirty="0">
                <a:solidFill>
                  <a:srgbClr val="CCCCCC"/>
                </a:solidFill>
                <a:latin typeface="Calibri" pitchFamily="34" charset="0"/>
                <a:ea typeface="Calibri" pitchFamily="34" charset="-122"/>
                <a:cs typeface="Calibri" pitchFamily="34" charset="-120"/>
              </a:rPr>
              <a:t>A curated wardrobe subscription for college men.</a:t>
            </a:r>
            <a:endParaRPr lang="en-US" sz="1500" dirty="0"/>
          </a:p>
          <a:p>
            <a:pPr indent="0" marL="0">
              <a:buNone/>
            </a:pPr>
            <a:r>
              <a:rPr lang="en-US" sz="1500" dirty="0">
                <a:solidFill>
                  <a:srgbClr val="CCCCCC"/>
                </a:solidFill>
                <a:latin typeface="Calibri" pitchFamily="34" charset="0"/>
                <a:ea typeface="Calibri" pitchFamily="34" charset="-122"/>
                <a:cs typeface="Calibri" pitchFamily="34" charset="-120"/>
              </a:rPr>
              <a:t>Wear it. Love it. Keep it or swap for something new.</a:t>
            </a:r>
            <a:endParaRPr lang="en-US" sz="1500" dirty="0"/>
          </a:p>
        </p:txBody>
      </p:sp>
      <p:sp>
        <p:nvSpPr>
          <p:cNvPr id="7" name="Shape 5"/>
          <p:cNvSpPr/>
          <p:nvPr/>
        </p:nvSpPr>
        <p:spPr>
          <a:xfrm>
            <a:off x="6858000" y="4526280"/>
            <a:ext cx="164592" cy="164592"/>
          </a:xfrm>
          <a:prstGeom prst="ellipse">
            <a:avLst/>
          </a:prstGeom>
          <a:solidFill>
            <a:srgbClr val="C9A84C">
              <a:alpha val="50000"/>
            </a:srgbClr>
          </a:solidFill>
          <a:ln w="12700">
            <a:solidFill>
              <a:srgbClr val="C9A84C">
                <a:alpha val="50000"/>
              </a:srgbClr>
            </a:solidFill>
            <a:prstDash val="solid"/>
          </a:ln>
        </p:spPr>
      </p:sp>
      <p:sp>
        <p:nvSpPr>
          <p:cNvPr id="8" name="Shape 6"/>
          <p:cNvSpPr/>
          <p:nvPr/>
        </p:nvSpPr>
        <p:spPr>
          <a:xfrm>
            <a:off x="7269480" y="4526280"/>
            <a:ext cx="164592" cy="164592"/>
          </a:xfrm>
          <a:prstGeom prst="ellipse">
            <a:avLst/>
          </a:prstGeom>
          <a:solidFill>
            <a:srgbClr val="C9A84C">
              <a:alpha val="50000"/>
            </a:srgbClr>
          </a:solidFill>
          <a:ln w="12700">
            <a:solidFill>
              <a:srgbClr val="C9A84C">
                <a:alpha val="50000"/>
              </a:srgbClr>
            </a:solidFill>
            <a:prstDash val="solid"/>
          </a:ln>
        </p:spPr>
      </p:sp>
      <p:sp>
        <p:nvSpPr>
          <p:cNvPr id="9" name="Shape 7"/>
          <p:cNvSpPr/>
          <p:nvPr/>
        </p:nvSpPr>
        <p:spPr>
          <a:xfrm>
            <a:off x="7680960" y="4526280"/>
            <a:ext cx="164592" cy="164592"/>
          </a:xfrm>
          <a:prstGeom prst="ellipse">
            <a:avLst/>
          </a:prstGeom>
          <a:solidFill>
            <a:srgbClr val="C9A84C">
              <a:alpha val="50000"/>
            </a:srgbClr>
          </a:solidFill>
          <a:ln w="12700">
            <a:solidFill>
              <a:srgbClr val="C9A84C">
                <a:alpha val="50000"/>
              </a:srgbClr>
            </a:solidFill>
            <a:prstDash val="solid"/>
          </a:ln>
        </p:spPr>
      </p:sp>
      <p:sp>
        <p:nvSpPr>
          <p:cNvPr id="10" name="Shape 8"/>
          <p:cNvSpPr/>
          <p:nvPr/>
        </p:nvSpPr>
        <p:spPr>
          <a:xfrm>
            <a:off x="8092440" y="4526280"/>
            <a:ext cx="164592" cy="164592"/>
          </a:xfrm>
          <a:prstGeom prst="ellipse">
            <a:avLst/>
          </a:prstGeom>
          <a:solidFill>
            <a:srgbClr val="C9A84C">
              <a:alpha val="50000"/>
            </a:srgbClr>
          </a:solidFill>
          <a:ln w="12700">
            <a:solidFill>
              <a:srgbClr val="C9A84C">
                <a:alpha val="50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340"/>
          </a:solidFill>
          <a:ln w="12700">
            <a:solidFill>
              <a:srgbClr val="1A2340"/>
            </a:solidFill>
            <a:prstDash val="solid"/>
          </a:ln>
        </p:spPr>
      </p:sp>
      <p:sp>
        <p:nvSpPr>
          <p:cNvPr id="3" name="Text 1"/>
          <p:cNvSpPr/>
          <p:nvPr/>
        </p:nvSpPr>
        <p:spPr>
          <a:xfrm>
            <a:off x="365760" y="0"/>
            <a:ext cx="4572000" cy="82296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LONG PITCH</a:t>
            </a:r>
            <a:endParaRPr lang="en-US" sz="1100" dirty="0"/>
          </a:p>
        </p:txBody>
      </p:sp>
      <p:sp>
        <p:nvSpPr>
          <p:cNvPr id="4" name="Text 2"/>
          <p:cNvSpPr/>
          <p:nvPr/>
        </p:nvSpPr>
        <p:spPr>
          <a:xfrm>
            <a:off x="3200400" y="0"/>
            <a:ext cx="5577840" cy="822960"/>
          </a:xfrm>
          <a:prstGeom prst="rect">
            <a:avLst/>
          </a:prstGeom>
          <a:noFill/>
          <a:ln/>
        </p:spPr>
        <p:txBody>
          <a:bodyPr wrap="square" lIns="0" tIns="0" rIns="0" bIns="0" rtlCol="0" anchor="ctr"/>
          <a:lstStyle/>
          <a:p>
            <a:pPr algn="r" indent="0" marL="0">
              <a:buNone/>
            </a:pPr>
            <a:r>
              <a:rPr lang="en-US" sz="1000" dirty="0">
                <a:solidFill>
                  <a:srgbClr val="AAAAAA"/>
                </a:solidFill>
                <a:latin typeface="Calibri" pitchFamily="34" charset="0"/>
                <a:ea typeface="Calibri" pitchFamily="34" charset="-122"/>
                <a:cs typeface="Calibri" pitchFamily="34" charset="-120"/>
              </a:rPr>
              <a:t>~2 minutes spoken   Investor / Accelerator setting</a:t>
            </a:r>
            <a:endParaRPr lang="en-US" sz="1000" dirty="0"/>
          </a:p>
        </p:txBody>
      </p:sp>
      <p:sp>
        <p:nvSpPr>
          <p:cNvPr id="5" name="Shape 3"/>
          <p:cNvSpPr/>
          <p:nvPr/>
        </p:nvSpPr>
        <p:spPr>
          <a:xfrm>
            <a:off x="365760" y="960120"/>
            <a:ext cx="8412480" cy="3749040"/>
          </a:xfrm>
          <a:prstGeom prst="rect">
            <a:avLst/>
          </a:prstGeom>
          <a:solidFill>
            <a:srgbClr val="FFFFFF"/>
          </a:solidFill>
          <a:ln w="12700">
            <a:solidFill>
              <a:srgbClr val="DDD6C8"/>
            </a:solidFill>
            <a:prstDash val="solid"/>
          </a:ln>
          <a:effectLst>
            <a:outerShdw sx="100000" sy="100000" kx="0" ky="0" algn="bl" rotWithShape="0" blurRad="101600" dist="25400" dir="8100000">
              <a:srgbClr val="000000">
                <a:alpha val="12000"/>
              </a:srgbClr>
            </a:outerShdw>
          </a:effectLst>
        </p:spPr>
      </p:sp>
      <p:sp>
        <p:nvSpPr>
          <p:cNvPr id="6" name="Shape 4"/>
          <p:cNvSpPr/>
          <p:nvPr/>
        </p:nvSpPr>
        <p:spPr>
          <a:xfrm>
            <a:off x="365760" y="960120"/>
            <a:ext cx="64008" cy="3749040"/>
          </a:xfrm>
          <a:prstGeom prst="rect">
            <a:avLst/>
          </a:prstGeom>
          <a:solidFill>
            <a:srgbClr val="C9A84C"/>
          </a:solidFill>
          <a:ln w="12700">
            <a:solidFill>
              <a:srgbClr val="C9A84C"/>
            </a:solidFill>
            <a:prstDash val="solid"/>
          </a:ln>
        </p:spPr>
      </p:sp>
      <p:sp>
        <p:nvSpPr>
          <p:cNvPr id="7" name="Text 5"/>
          <p:cNvSpPr/>
          <p:nvPr/>
        </p:nvSpPr>
        <p:spPr>
          <a:xfrm>
            <a:off x="594360" y="1097280"/>
            <a:ext cx="8046720" cy="3566160"/>
          </a:xfrm>
          <a:prstGeom prst="rect">
            <a:avLst/>
          </a:prstGeom>
          <a:noFill/>
          <a:ln/>
        </p:spPr>
        <p:txBody>
          <a:bodyPr wrap="square" lIns="0" tIns="0" rIns="0" bIns="0" rtlCol="0" anchor="t"/>
          <a:lstStyle/>
          <a:p>
            <a:pPr indent="0" marL="0">
              <a:buNone/>
            </a:pPr>
            <a:r>
              <a:rPr lang="en-US" sz="1200" dirty="0">
                <a:solidFill>
                  <a:srgbClr val="2E2E2E"/>
                </a:solidFill>
                <a:latin typeface="Calibri" pitchFamily="34" charset="0"/>
                <a:ea typeface="Calibri" pitchFamily="34" charset="-122"/>
                <a:cs typeface="Calibri" pitchFamily="34" charset="-120"/>
              </a:rPr>
              <a:t>Most guys in college want to look good. That part is not new. What is new is how impossible the whole thing feels. You buy a shirt and it shrinks. You order something online and it does not fit. You spend $80 on something impulsive and wear it twice. And on top of that, </a:t>
            </a:r>
            <a:pPr indent="0" marL="0">
              <a:buNone/>
            </a:pPr>
            <a:r>
              <a:rPr lang="en-US" sz="1200" b="1" dirty="0">
                <a:solidFill>
                  <a:srgbClr val="2E2E2E"/>
                </a:solidFill>
                <a:latin typeface="Calibri" pitchFamily="34" charset="0"/>
                <a:ea typeface="Calibri" pitchFamily="34" charset="-122"/>
                <a:cs typeface="Calibri" pitchFamily="34" charset="-120"/>
              </a:rPr>
              <a:t>the brands worth wearing</a:t>
            </a:r>
            <a:pPr indent="0" marL="0">
              <a:buNone/>
            </a:pPr>
            <a:r>
              <a:rPr lang="en-US" sz="1200" dirty="0">
                <a:solidFill>
                  <a:srgbClr val="2E2E2E"/>
                </a:solidFill>
                <a:latin typeface="Calibri" pitchFamily="34" charset="0"/>
                <a:ea typeface="Calibri" pitchFamily="34" charset="-122"/>
                <a:cs typeface="Calibri" pitchFamily="34" charset="-120"/>
              </a:rPr>
              <a:t> like Levi's, Vuori, Bonobos, and Rhone are not exactly on a college budget.
</a:t>
            </a:r>
            <a:endParaRPr lang="en-US" sz="1200" dirty="0"/>
          </a:p>
          <a:p>
            <a:pPr indent="0" marL="0">
              <a:buNone/>
            </a:pPr>
            <a:endParaRPr lang="en-US" sz="1200" dirty="0"/>
          </a:p>
          <a:p>
            <a:pPr indent="0" marL="0">
              <a:buNone/>
            </a:pPr>
            <a:pPr indent="0" marL="0">
              <a:buNone/>
            </a:pPr>
            <a:r>
              <a:rPr lang="en-US" sz="1200" b="1" dirty="0">
                <a:solidFill>
                  <a:srgbClr val="2E2E2E"/>
                </a:solidFill>
                <a:latin typeface="Calibri" pitchFamily="34" charset="0"/>
                <a:ea typeface="Calibri" pitchFamily="34" charset="-122"/>
                <a:cs typeface="Calibri" pitchFamily="34" charset="-120"/>
              </a:rPr>
              <a:t>Davenport Wardrobe fixes that.</a:t>
            </a:r>
            <a:pPr indent="0" marL="0">
              <a:buNone/>
            </a:pPr>
            <a:r>
              <a:rPr lang="en-US" sz="1200" dirty="0">
                <a:solidFill>
                  <a:srgbClr val="2E2E2E"/>
                </a:solidFill>
                <a:latin typeface="Calibri" pitchFamily="34" charset="0"/>
                <a:ea typeface="Calibri" pitchFamily="34" charset="-122"/>
                <a:cs typeface="Calibri" pitchFamily="34" charset="-120"/>
              </a:rPr>
              <a:t> We are a curated wardrobe subscription built specifically for college men. You browse our catalog of </a:t>
            </a:r>
            <a:pPr indent="0" marL="0">
              <a:buNone/>
            </a:pPr>
            <a:r>
              <a:rPr lang="en-US" sz="1200" b="1" dirty="0">
                <a:solidFill>
                  <a:srgbClr val="2E2E2E"/>
                </a:solidFill>
                <a:latin typeface="Calibri" pitchFamily="34" charset="0"/>
                <a:ea typeface="Calibri" pitchFamily="34" charset="-122"/>
                <a:cs typeface="Calibri" pitchFamily="34" charset="-120"/>
              </a:rPr>
              <a:t>50+ premium brands,</a:t>
            </a:r>
            <a:pPr indent="0" marL="0">
              <a:buNone/>
            </a:pPr>
            <a:r>
              <a:rPr lang="en-US" sz="1200" dirty="0">
                <a:solidFill>
                  <a:srgbClr val="2E2E2E"/>
                </a:solidFill>
                <a:latin typeface="Calibri" pitchFamily="34" charset="0"/>
                <a:ea typeface="Calibri" pitchFamily="34" charset="-122"/>
                <a:cs typeface="Calibri" pitchFamily="34" charset="-120"/>
              </a:rPr>
              <a:t> build your Suitcase, and we ship a Davenport box straight to your door. You wear everything for the month. Love a piece? Buy it. Done with it? Send it back and we refresh your box.
</a:t>
            </a:r>
            <a:endParaRPr lang="en-US" sz="1200" dirty="0"/>
          </a:p>
          <a:p>
            <a:pPr indent="0" marL="0">
              <a:buNone/>
            </a:pPr>
            <a:endParaRPr lang="en-US" sz="1200" dirty="0"/>
          </a:p>
          <a:p>
            <a:pPr indent="0" marL="0">
              <a:buNone/>
            </a:pPr>
            <a:r>
              <a:rPr lang="en-US" sz="1200" dirty="0">
                <a:solidFill>
                  <a:srgbClr val="2E2E2E"/>
                </a:solidFill>
                <a:latin typeface="Calibri" pitchFamily="34" charset="0"/>
                <a:ea typeface="Calibri" pitchFamily="34" charset="-122"/>
                <a:cs typeface="Calibri" pitchFamily="34" charset="-120"/>
              </a:rPr>
              <a:t>The </a:t>
            </a:r>
            <a:pPr indent="0" marL="0">
              <a:buNone/>
            </a:pPr>
            <a:r>
              <a:rPr lang="en-US" sz="1200" b="1" dirty="0">
                <a:solidFill>
                  <a:srgbClr val="2E2E2E"/>
                </a:solidFill>
                <a:latin typeface="Calibri" pitchFamily="34" charset="0"/>
                <a:ea typeface="Calibri" pitchFamily="34" charset="-122"/>
                <a:cs typeface="Calibri" pitchFamily="34" charset="-120"/>
              </a:rPr>
              <a:t>try-before-you-buy model</a:t>
            </a:r>
            <a:pPr indent="0" marL="0">
              <a:buNone/>
            </a:pPr>
            <a:r>
              <a:rPr lang="en-US" sz="1200" dirty="0">
                <a:solidFill>
                  <a:srgbClr val="2E2E2E"/>
                </a:solidFill>
                <a:latin typeface="Calibri" pitchFamily="34" charset="0"/>
                <a:ea typeface="Calibri" pitchFamily="34" charset="-122"/>
                <a:cs typeface="Calibri" pitchFamily="34" charset="-120"/>
              </a:rPr>
              <a:t> wipes out buyer's remorse completely. No more fit surprises. No more shrinkage anxiety. No more impulse spending you regret. And because we carry both brand new and gently used pieces, you have got a price point for every budget.
</a:t>
            </a:r>
            <a:endParaRPr lang="en-US" sz="1200" dirty="0"/>
          </a:p>
          <a:p>
            <a:pPr indent="0" marL="0">
              <a:buNone/>
            </a:pPr>
            <a:endParaRPr lang="en-US" sz="1200" dirty="0"/>
          </a:p>
          <a:p>
            <a:pPr indent="0" marL="0">
              <a:buNone/>
            </a:pPr>
            <a:pPr indent="0" marL="0">
              <a:buNone/>
            </a:pPr>
            <a:r>
              <a:rPr lang="en-US" sz="1200" b="1" dirty="0">
                <a:solidFill>
                  <a:srgbClr val="2E2E2E"/>
                </a:solidFill>
                <a:latin typeface="Calibri" pitchFamily="34" charset="0"/>
                <a:ea typeface="Calibri" pitchFamily="34" charset="-122"/>
                <a:cs typeface="Calibri" pitchFamily="34" charset="-120"/>
              </a:rPr>
              <a:t>Subscriptions are flexible.</a:t>
            </a:r>
            <a:pPr indent="0" marL="0">
              <a:buNone/>
            </a:pPr>
            <a:r>
              <a:rPr lang="en-US" sz="1200" dirty="0">
                <a:solidFill>
                  <a:srgbClr val="2E2E2E"/>
                </a:solidFill>
                <a:latin typeface="Calibri" pitchFamily="34" charset="0"/>
                <a:ea typeface="Calibri" pitchFamily="34" charset="-122"/>
                <a:cs typeface="Calibri" pitchFamily="34" charset="-120"/>
              </a:rPr>
              <a:t> Semester, season, or month, whatever fits your life. We are not a formalwear rental service for one wedding a year. We are filling the gap nobody else has touched: the everyday casual clothes college guys actually wear.
</a:t>
            </a:r>
            <a:endParaRPr lang="en-US" sz="1200" dirty="0"/>
          </a:p>
          <a:p>
            <a:pPr indent="0" marL="0">
              <a:buNone/>
            </a:pPr>
            <a:endParaRPr lang="en-US" sz="1200" dirty="0"/>
          </a:p>
          <a:p>
            <a:pPr indent="0" marL="0">
              <a:buNone/>
            </a:pPr>
            <a:r>
              <a:rPr lang="en-US" sz="1200" dirty="0">
                <a:solidFill>
                  <a:srgbClr val="2E2E2E"/>
                </a:solidFill>
                <a:latin typeface="Calibri" pitchFamily="34" charset="0"/>
                <a:ea typeface="Calibri" pitchFamily="34" charset="-122"/>
                <a:cs typeface="Calibri" pitchFamily="34" charset="-120"/>
              </a:rPr>
              <a:t>We are launching with men and expanding from there, with women's and beyond already in the roadmap. </a:t>
            </a:r>
            <a:pPr indent="0" marL="0">
              <a:buNone/>
            </a:pPr>
            <a:r>
              <a:rPr lang="en-US" sz="1200" b="1" dirty="0">
                <a:solidFill>
                  <a:srgbClr val="2E2E2E"/>
                </a:solidFill>
                <a:latin typeface="Calibri" pitchFamily="34" charset="0"/>
                <a:ea typeface="Calibri" pitchFamily="34" charset="-122"/>
                <a:cs typeface="Calibri" pitchFamily="34" charset="-120"/>
              </a:rPr>
              <a:t>Davenport is building the go-to destination</a:t>
            </a:r>
            <a:pPr indent="0" marL="0">
              <a:buNone/>
            </a:pPr>
            <a:r>
              <a:rPr lang="en-US" sz="1200" dirty="0">
                <a:solidFill>
                  <a:srgbClr val="2E2E2E"/>
                </a:solidFill>
                <a:latin typeface="Calibri" pitchFamily="34" charset="0"/>
                <a:ea typeface="Calibri" pitchFamily="34" charset="-122"/>
                <a:cs typeface="Calibri" pitchFamily="34" charset="-120"/>
              </a:rPr>
              <a:t> for anyone who wants a real wardrobe without the real commitment.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340"/>
          </a:solidFill>
          <a:ln w="12700">
            <a:solidFill>
              <a:srgbClr val="1A2340"/>
            </a:solidFill>
            <a:prstDash val="solid"/>
          </a:ln>
        </p:spPr>
      </p:sp>
      <p:sp>
        <p:nvSpPr>
          <p:cNvPr id="3" name="Text 1"/>
          <p:cNvSpPr/>
          <p:nvPr/>
        </p:nvSpPr>
        <p:spPr>
          <a:xfrm>
            <a:off x="365760" y="0"/>
            <a:ext cx="4572000" cy="82296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MEDIUM PITCH</a:t>
            </a:r>
            <a:endParaRPr lang="en-US" sz="1100" dirty="0"/>
          </a:p>
        </p:txBody>
      </p:sp>
      <p:sp>
        <p:nvSpPr>
          <p:cNvPr id="4" name="Text 2"/>
          <p:cNvSpPr/>
          <p:nvPr/>
        </p:nvSpPr>
        <p:spPr>
          <a:xfrm>
            <a:off x="3200400" y="0"/>
            <a:ext cx="5577840" cy="822960"/>
          </a:xfrm>
          <a:prstGeom prst="rect">
            <a:avLst/>
          </a:prstGeom>
          <a:noFill/>
          <a:ln/>
        </p:spPr>
        <p:txBody>
          <a:bodyPr wrap="square" lIns="0" tIns="0" rIns="0" bIns="0" rtlCol="0" anchor="ctr"/>
          <a:lstStyle/>
          <a:p>
            <a:pPr algn="r" indent="0" marL="0">
              <a:buNone/>
            </a:pPr>
            <a:r>
              <a:rPr lang="en-US" sz="1000" dirty="0">
                <a:solidFill>
                  <a:srgbClr val="AAAAAA"/>
                </a:solidFill>
                <a:latin typeface="Calibri" pitchFamily="34" charset="0"/>
                <a:ea typeface="Calibri" pitchFamily="34" charset="-122"/>
                <a:cs typeface="Calibri" pitchFamily="34" charset="-120"/>
              </a:rPr>
              <a:t>~60 seconds spoken   Networking / Demo Day</a:t>
            </a:r>
            <a:endParaRPr lang="en-US" sz="1000" dirty="0"/>
          </a:p>
        </p:txBody>
      </p:sp>
      <p:sp>
        <p:nvSpPr>
          <p:cNvPr id="5" name="Shape 3"/>
          <p:cNvSpPr/>
          <p:nvPr/>
        </p:nvSpPr>
        <p:spPr>
          <a:xfrm>
            <a:off x="365760" y="960120"/>
            <a:ext cx="3977640" cy="3749040"/>
          </a:xfrm>
          <a:prstGeom prst="rect">
            <a:avLst/>
          </a:prstGeom>
          <a:solidFill>
            <a:srgbClr val="FFFFFF"/>
          </a:solidFill>
          <a:ln w="12700">
            <a:solidFill>
              <a:srgbClr val="DDD6C8"/>
            </a:solidFill>
            <a:prstDash val="solid"/>
          </a:ln>
          <a:effectLst>
            <a:outerShdw sx="100000" sy="100000" kx="0" ky="0" algn="bl" rotWithShape="0" blurRad="101600" dist="25400" dir="8100000">
              <a:srgbClr val="000000">
                <a:alpha val="12000"/>
              </a:srgbClr>
            </a:outerShdw>
          </a:effectLst>
        </p:spPr>
      </p:sp>
      <p:sp>
        <p:nvSpPr>
          <p:cNvPr id="6" name="Shape 4"/>
          <p:cNvSpPr/>
          <p:nvPr/>
        </p:nvSpPr>
        <p:spPr>
          <a:xfrm>
            <a:off x="365760" y="960120"/>
            <a:ext cx="64008" cy="3749040"/>
          </a:xfrm>
          <a:prstGeom prst="rect">
            <a:avLst/>
          </a:prstGeom>
          <a:solidFill>
            <a:srgbClr val="C0392B"/>
          </a:solidFill>
          <a:ln w="12700">
            <a:solidFill>
              <a:srgbClr val="C0392B"/>
            </a:solidFill>
            <a:prstDash val="solid"/>
          </a:ln>
        </p:spPr>
      </p:sp>
      <p:sp>
        <p:nvSpPr>
          <p:cNvPr id="7" name="Text 5"/>
          <p:cNvSpPr/>
          <p:nvPr/>
        </p:nvSpPr>
        <p:spPr>
          <a:xfrm>
            <a:off x="594360" y="1051560"/>
            <a:ext cx="3566160" cy="320040"/>
          </a:xfrm>
          <a:prstGeom prst="rect">
            <a:avLst/>
          </a:prstGeom>
          <a:noFill/>
          <a:ln/>
        </p:spPr>
        <p:txBody>
          <a:bodyPr wrap="square" lIns="0" tIns="0" rIns="0" bIns="0" rtlCol="0" anchor="ctr"/>
          <a:lstStyle/>
          <a:p>
            <a:pPr indent="0" marL="0">
              <a:buNone/>
            </a:pPr>
            <a:r>
              <a:rPr lang="en-US" sz="1000" b="1" spc="200" kern="0" dirty="0">
                <a:solidFill>
                  <a:srgbClr val="C0392B"/>
                </a:solidFill>
                <a:latin typeface="Calibri" pitchFamily="34" charset="0"/>
                <a:ea typeface="Calibri" pitchFamily="34" charset="-122"/>
                <a:cs typeface="Calibri" pitchFamily="34" charset="-120"/>
              </a:rPr>
              <a:t>THE PROBLEM</a:t>
            </a:r>
            <a:endParaRPr lang="en-US" sz="1000" dirty="0"/>
          </a:p>
        </p:txBody>
      </p:sp>
      <p:sp>
        <p:nvSpPr>
          <p:cNvPr id="8" name="Text 6"/>
          <p:cNvSpPr/>
          <p:nvPr/>
        </p:nvSpPr>
        <p:spPr>
          <a:xfrm>
            <a:off x="594360" y="1463040"/>
            <a:ext cx="3566160" cy="3108960"/>
          </a:xfrm>
          <a:prstGeom prst="rect">
            <a:avLst/>
          </a:prstGeom>
          <a:noFill/>
          <a:ln/>
        </p:spPr>
        <p:txBody>
          <a:bodyPr wrap="square" lIns="0" tIns="0" rIns="0" bIns="0" rtlCol="0" anchor="t"/>
          <a:lstStyle/>
          <a:p>
            <a:pPr indent="0" marL="0">
              <a:buNone/>
            </a:pPr>
            <a:pPr indent="0" marL="0">
              <a:buNone/>
            </a:pPr>
            <a:r>
              <a:rPr lang="en-US" sz="1250" b="1" dirty="0">
                <a:solidFill>
                  <a:srgbClr val="2E2E2E"/>
                </a:solidFill>
                <a:latin typeface="Calibri" pitchFamily="34" charset="0"/>
                <a:ea typeface="Calibri" pitchFamily="34" charset="-122"/>
                <a:cs typeface="Calibri" pitchFamily="34" charset="-120"/>
              </a:rPr>
              <a:t>College guys want to look good</a:t>
            </a:r>
            <a:pPr indent="0" marL="0">
              <a:buNone/>
            </a:pPr>
            <a:r>
              <a:rPr lang="en-US" sz="1250" dirty="0">
                <a:solidFill>
                  <a:srgbClr val="2E2E2E"/>
                </a:solidFill>
                <a:latin typeface="Calibri" pitchFamily="34" charset="0"/>
                <a:ea typeface="Calibri" pitchFamily="34" charset="-122"/>
                <a:cs typeface="Calibri" pitchFamily="34" charset="-120"/>
              </a:rPr>
              <a:t> but building a wardrobe is expensive and stressful. Impulsive buys, sizing fails, and shrinkage eat through budgets fast. </a:t>
            </a:r>
            <a:pPr indent="0" marL="0">
              <a:buNone/>
            </a:pPr>
            <a:r>
              <a:rPr lang="en-US" sz="1250" b="1" dirty="0">
                <a:solidFill>
                  <a:srgbClr val="2E2E2E"/>
                </a:solidFill>
                <a:latin typeface="Calibri" pitchFamily="34" charset="0"/>
                <a:ea typeface="Calibri" pitchFamily="34" charset="-122"/>
                <a:cs typeface="Calibri" pitchFamily="34" charset="-120"/>
              </a:rPr>
              <a:t>Existing rental services only cover formalwear.</a:t>
            </a:r>
            <a:pPr indent="0" marL="0">
              <a:buNone/>
            </a:pPr>
            <a:r>
              <a:rPr lang="en-US" sz="1250" dirty="0">
                <a:solidFill>
                  <a:srgbClr val="2E2E2E"/>
                </a:solidFill>
                <a:latin typeface="Calibri" pitchFamily="34" charset="0"/>
                <a:ea typeface="Calibri" pitchFamily="34" charset="-122"/>
                <a:cs typeface="Calibri" pitchFamily="34" charset="-120"/>
              </a:rPr>
              <a:t> Nobody is solving everyday clothes.</a:t>
            </a:r>
            <a:endParaRPr lang="en-US" sz="1250" dirty="0"/>
          </a:p>
        </p:txBody>
      </p:sp>
      <p:sp>
        <p:nvSpPr>
          <p:cNvPr id="9" name="Shape 7"/>
          <p:cNvSpPr/>
          <p:nvPr/>
        </p:nvSpPr>
        <p:spPr>
          <a:xfrm>
            <a:off x="4800600" y="960120"/>
            <a:ext cx="3977640" cy="3749040"/>
          </a:xfrm>
          <a:prstGeom prst="rect">
            <a:avLst/>
          </a:prstGeom>
          <a:solidFill>
            <a:srgbClr val="FFFFFF"/>
          </a:solidFill>
          <a:ln w="12700">
            <a:solidFill>
              <a:srgbClr val="DDD6C8"/>
            </a:solidFill>
            <a:prstDash val="solid"/>
          </a:ln>
          <a:effectLst>
            <a:outerShdw sx="100000" sy="100000" kx="0" ky="0" algn="bl" rotWithShape="0" blurRad="101600" dist="25400" dir="8100000">
              <a:srgbClr val="000000">
                <a:alpha val="12000"/>
              </a:srgbClr>
            </a:outerShdw>
          </a:effectLst>
        </p:spPr>
      </p:sp>
      <p:sp>
        <p:nvSpPr>
          <p:cNvPr id="10" name="Shape 8"/>
          <p:cNvSpPr/>
          <p:nvPr/>
        </p:nvSpPr>
        <p:spPr>
          <a:xfrm>
            <a:off x="4800600" y="960120"/>
            <a:ext cx="64008" cy="3749040"/>
          </a:xfrm>
          <a:prstGeom prst="rect">
            <a:avLst/>
          </a:prstGeom>
          <a:solidFill>
            <a:srgbClr val="C9A84C"/>
          </a:solidFill>
          <a:ln w="12700">
            <a:solidFill>
              <a:srgbClr val="C9A84C"/>
            </a:solidFill>
            <a:prstDash val="solid"/>
          </a:ln>
        </p:spPr>
      </p:sp>
      <p:sp>
        <p:nvSpPr>
          <p:cNvPr id="11" name="Text 9"/>
          <p:cNvSpPr/>
          <p:nvPr/>
        </p:nvSpPr>
        <p:spPr>
          <a:xfrm>
            <a:off x="5029200" y="1051560"/>
            <a:ext cx="3566160" cy="320040"/>
          </a:xfrm>
          <a:prstGeom prst="rect">
            <a:avLst/>
          </a:prstGeom>
          <a:noFill/>
          <a:ln/>
        </p:spPr>
        <p:txBody>
          <a:bodyPr wrap="square" lIns="0" tIns="0" rIns="0" bIns="0" rtlCol="0" anchor="ctr"/>
          <a:lstStyle/>
          <a:p>
            <a:pPr indent="0" marL="0">
              <a:buNone/>
            </a:pPr>
            <a:r>
              <a:rPr lang="en-US" sz="1000" b="1" spc="200" kern="0" dirty="0">
                <a:solidFill>
                  <a:srgbClr val="C9A84C"/>
                </a:solidFill>
                <a:latin typeface="Calibri" pitchFamily="34" charset="0"/>
                <a:ea typeface="Calibri" pitchFamily="34" charset="-122"/>
                <a:cs typeface="Calibri" pitchFamily="34" charset="-120"/>
              </a:rPr>
              <a:t>THE SOLUTION</a:t>
            </a:r>
            <a:endParaRPr lang="en-US" sz="1000" dirty="0"/>
          </a:p>
        </p:txBody>
      </p:sp>
      <p:sp>
        <p:nvSpPr>
          <p:cNvPr id="12" name="Text 10"/>
          <p:cNvSpPr/>
          <p:nvPr/>
        </p:nvSpPr>
        <p:spPr>
          <a:xfrm>
            <a:off x="5029200" y="1463040"/>
            <a:ext cx="3566160" cy="3108960"/>
          </a:xfrm>
          <a:prstGeom prst="rect">
            <a:avLst/>
          </a:prstGeom>
          <a:noFill/>
          <a:ln/>
        </p:spPr>
        <p:txBody>
          <a:bodyPr wrap="square" lIns="0" tIns="0" rIns="0" bIns="0" rtlCol="0" anchor="t"/>
          <a:lstStyle/>
          <a:p>
            <a:pPr indent="0" marL="0">
              <a:buNone/>
            </a:pPr>
            <a:pPr indent="0" marL="0">
              <a:buNone/>
            </a:pPr>
            <a:r>
              <a:rPr lang="en-US" sz="1250" b="1" dirty="0">
                <a:solidFill>
                  <a:srgbClr val="2E2E2E"/>
                </a:solidFill>
                <a:latin typeface="Calibri" pitchFamily="34" charset="0"/>
                <a:ea typeface="Calibri" pitchFamily="34" charset="-122"/>
                <a:cs typeface="Calibri" pitchFamily="34" charset="-120"/>
              </a:rPr>
              <a:t>Davenport Wardrobe</a:t>
            </a:r>
            <a:pPr indent="0" marL="0">
              <a:buNone/>
            </a:pPr>
            <a:r>
              <a:rPr lang="en-US" sz="1250" dirty="0">
                <a:solidFill>
                  <a:srgbClr val="2E2E2E"/>
                </a:solidFill>
                <a:latin typeface="Calibri" pitchFamily="34" charset="0"/>
                <a:ea typeface="Calibri" pitchFamily="34" charset="-122"/>
                <a:cs typeface="Calibri" pitchFamily="34" charset="-120"/>
              </a:rPr>
              <a:t> is a curated subscription for college men. We ship a box of pieces from </a:t>
            </a:r>
            <a:pPr indent="0" marL="0">
              <a:buNone/>
            </a:pPr>
            <a:r>
              <a:rPr lang="en-US" sz="1250" b="1" dirty="0">
                <a:solidFill>
                  <a:srgbClr val="2E2E2E"/>
                </a:solidFill>
                <a:latin typeface="Calibri" pitchFamily="34" charset="0"/>
                <a:ea typeface="Calibri" pitchFamily="34" charset="-122"/>
                <a:cs typeface="Calibri" pitchFamily="34" charset="-120"/>
              </a:rPr>
              <a:t>50+ brands</a:t>
            </a:r>
            <a:pPr indent="0" marL="0">
              <a:buNone/>
            </a:pPr>
            <a:r>
              <a:rPr lang="en-US" sz="1250" dirty="0">
                <a:solidFill>
                  <a:srgbClr val="2E2E2E"/>
                </a:solidFill>
                <a:latin typeface="Calibri" pitchFamily="34" charset="0"/>
                <a:ea typeface="Calibri" pitchFamily="34" charset="-122"/>
                <a:cs typeface="Calibri" pitchFamily="34" charset="-120"/>
              </a:rPr>
              <a:t> like Levi's, Vuori, and Rhone. You wear it, love it, keep what you want, or send it back and refresh. </a:t>
            </a:r>
            <a:pPr indent="0" marL="0">
              <a:buNone/>
            </a:pPr>
            <a:r>
              <a:rPr lang="en-US" sz="1250" b="1" dirty="0">
                <a:solidFill>
                  <a:srgbClr val="2E2E2E"/>
                </a:solidFill>
                <a:latin typeface="Calibri" pitchFamily="34" charset="0"/>
                <a:ea typeface="Calibri" pitchFamily="34" charset="-122"/>
                <a:cs typeface="Calibri" pitchFamily="34" charset="-120"/>
              </a:rPr>
              <a:t>New or gently used. Semester, season, or month.</a:t>
            </a:r>
            <a:pPr indent="0" marL="0">
              <a:buNone/>
            </a:pPr>
            <a:r>
              <a:rPr lang="en-US" sz="1250" dirty="0">
                <a:solidFill>
                  <a:srgbClr val="2E2E2E"/>
                </a:solidFill>
                <a:latin typeface="Calibri" pitchFamily="34" charset="0"/>
                <a:ea typeface="Calibri" pitchFamily="34" charset="-122"/>
                <a:cs typeface="Calibri" pitchFamily="34" charset="-120"/>
              </a:rPr>
              <a:t> Try before you buy, every time.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34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9A84C"/>
          </a:solidFill>
          <a:ln w="12700">
            <a:solidFill>
              <a:srgbClr val="C9A84C"/>
            </a:solidFill>
            <a:prstDash val="solid"/>
          </a:ln>
        </p:spPr>
      </p:sp>
      <p:sp>
        <p:nvSpPr>
          <p:cNvPr id="3" name="Text 1"/>
          <p:cNvSpPr/>
          <p:nvPr/>
        </p:nvSpPr>
        <p:spPr>
          <a:xfrm>
            <a:off x="365760" y="0"/>
            <a:ext cx="8229600" cy="822960"/>
          </a:xfrm>
          <a:prstGeom prst="rect">
            <a:avLst/>
          </a:prstGeom>
          <a:noFill/>
          <a:ln/>
        </p:spPr>
        <p:txBody>
          <a:bodyPr wrap="square" lIns="0" tIns="0" rIns="0" bIns="0" rtlCol="0" anchor="ctr"/>
          <a:lstStyle/>
          <a:p>
            <a:pPr indent="0" marL="0">
              <a:buNone/>
            </a:pPr>
            <a:r>
              <a:rPr lang="en-US" sz="1100" b="1" spc="300" kern="0" dirty="0">
                <a:solidFill>
                  <a:srgbClr val="1A2340"/>
                </a:solidFill>
                <a:latin typeface="Calibri" pitchFamily="34" charset="0"/>
                <a:ea typeface="Calibri" pitchFamily="34" charset="-122"/>
                <a:cs typeface="Calibri" pitchFamily="34" charset="-120"/>
              </a:rPr>
              <a:t>SHORT PITCH   ELEVATOR</a:t>
            </a:r>
            <a:endParaRPr lang="en-US" sz="1100" dirty="0"/>
          </a:p>
        </p:txBody>
      </p:sp>
      <p:sp>
        <p:nvSpPr>
          <p:cNvPr id="4" name="Text 2"/>
          <p:cNvSpPr/>
          <p:nvPr/>
        </p:nvSpPr>
        <p:spPr>
          <a:xfrm>
            <a:off x="457200" y="777240"/>
            <a:ext cx="914400" cy="1097280"/>
          </a:xfrm>
          <a:prstGeom prst="rect">
            <a:avLst/>
          </a:prstGeom>
          <a:noFill/>
          <a:ln/>
        </p:spPr>
        <p:txBody>
          <a:bodyPr wrap="square" lIns="0" tIns="0" rIns="0" bIns="0" rtlCol="0" anchor="ctr"/>
          <a:lstStyle/>
          <a:p>
            <a:pPr indent="0" marL="0">
              <a:buNone/>
            </a:pPr>
            <a:r>
              <a:rPr lang="en-US" sz="10000" b="1" dirty="0">
                <a:solidFill>
                  <a:srgbClr val="C9A84C"/>
                </a:solidFill>
                <a:latin typeface="Georgia" pitchFamily="34" charset="0"/>
                <a:ea typeface="Georgia" pitchFamily="34" charset="-122"/>
                <a:cs typeface="Georgia" pitchFamily="34" charset="-120"/>
              </a:rPr>
              <a:t>“</a:t>
            </a:r>
            <a:endParaRPr lang="en-US" sz="10000" dirty="0"/>
          </a:p>
        </p:txBody>
      </p:sp>
      <p:sp>
        <p:nvSpPr>
          <p:cNvPr id="5" name="Text 3"/>
          <p:cNvSpPr/>
          <p:nvPr/>
        </p:nvSpPr>
        <p:spPr>
          <a:xfrm>
            <a:off x="548640" y="1280160"/>
            <a:ext cx="8046720" cy="2286000"/>
          </a:xfrm>
          <a:prstGeom prst="rect">
            <a:avLst/>
          </a:prstGeom>
          <a:noFill/>
          <a:ln/>
        </p:spPr>
        <p:txBody>
          <a:bodyPr wrap="square" lIns="0" tIns="0" rIns="0" bIns="0" rtlCol="0" anchor="ctr"/>
          <a:lstStyle/>
          <a:p>
            <a:pPr indent="0" marL="0">
              <a:buNone/>
            </a:pPr>
            <a:r>
              <a:rPr lang="en-US" sz="2000" i="1" dirty="0">
                <a:solidFill>
                  <a:srgbClr val="FFFFFF"/>
                </a:solidFill>
                <a:latin typeface="Georgia" pitchFamily="34" charset="0"/>
                <a:ea typeface="Georgia" pitchFamily="34" charset="-122"/>
                <a:cs typeface="Georgia" pitchFamily="34" charset="-120"/>
              </a:rPr>
              <a:t>Davenport is a </a:t>
            </a:r>
            <a:pPr indent="0" marL="0">
              <a:buNone/>
            </a:pPr>
            <a:r>
              <a:rPr lang="en-US" sz="2000" b="1" i="1" dirty="0">
                <a:solidFill>
                  <a:srgbClr val="FFFFFF"/>
                </a:solidFill>
                <a:latin typeface="Georgia" pitchFamily="34" charset="0"/>
                <a:ea typeface="Georgia" pitchFamily="34" charset="-122"/>
                <a:cs typeface="Georgia" pitchFamily="34" charset="-120"/>
              </a:rPr>
              <a:t>wardrobe subscription for college guys.</a:t>
            </a:r>
            <a:pPr indent="0" marL="0">
              <a:buNone/>
            </a:pPr>
            <a:r>
              <a:rPr lang="en-US" sz="2000" i="1" dirty="0">
                <a:solidFill>
                  <a:srgbClr val="FFFFFF"/>
                </a:solidFill>
                <a:latin typeface="Georgia" pitchFamily="34" charset="0"/>
                <a:ea typeface="Georgia" pitchFamily="34" charset="-122"/>
                <a:cs typeface="Georgia" pitchFamily="34" charset="-120"/>
              </a:rPr>
              <a:t> We ship you a box of clothes from brands like Levi's, Vuori, and Rhone. You wear them, </a:t>
            </a:r>
            <a:pPr indent="0" marL="0">
              <a:buNone/>
            </a:pPr>
            <a:r>
              <a:rPr lang="en-US" sz="2000" b="1" i="1" dirty="0">
                <a:solidFill>
                  <a:srgbClr val="FFFFFF"/>
                </a:solidFill>
                <a:latin typeface="Georgia" pitchFamily="34" charset="0"/>
                <a:ea typeface="Georgia" pitchFamily="34" charset="-122"/>
                <a:cs typeface="Georgia" pitchFamily="34" charset="-120"/>
              </a:rPr>
              <a:t>keep what you love,</a:t>
            </a:r>
            <a:pPr indent="0" marL="0">
              <a:buNone/>
            </a:pPr>
            <a:r>
              <a:rPr lang="en-US" sz="2000" i="1" dirty="0">
                <a:solidFill>
                  <a:srgbClr val="FFFFFF"/>
                </a:solidFill>
                <a:latin typeface="Georgia" pitchFamily="34" charset="0"/>
                <a:ea typeface="Georgia" pitchFamily="34" charset="-122"/>
                <a:cs typeface="Georgia" pitchFamily="34" charset="-120"/>
              </a:rPr>
              <a:t> and send back the rest. New pieces or gently used, flexible subscriptions, no commitment. Think Netflix for your closet, built specifically for campus life.</a:t>
            </a:r>
            <a:endParaRPr lang="en-US" sz="2000" dirty="0"/>
          </a:p>
        </p:txBody>
      </p:sp>
      <p:sp>
        <p:nvSpPr>
          <p:cNvPr id="6" name="Shape 4"/>
          <p:cNvSpPr/>
          <p:nvPr/>
        </p:nvSpPr>
        <p:spPr>
          <a:xfrm>
            <a:off x="457200" y="3749040"/>
            <a:ext cx="1874520" cy="1005840"/>
          </a:xfrm>
          <a:prstGeom prst="rect">
            <a:avLst/>
          </a:prstGeom>
          <a:solidFill>
            <a:srgbClr val="FFFFFF">
              <a:alpha val="90000"/>
            </a:srgbClr>
          </a:solidFill>
          <a:ln w="12700">
            <a:solidFill>
              <a:srgbClr val="FFFFFF">
                <a:alpha val="50000"/>
              </a:srgbClr>
            </a:solidFill>
            <a:prstDash val="solid"/>
          </a:ln>
        </p:spPr>
      </p:sp>
      <p:sp>
        <p:nvSpPr>
          <p:cNvPr id="7" name="Text 5"/>
          <p:cNvSpPr/>
          <p:nvPr/>
        </p:nvSpPr>
        <p:spPr>
          <a:xfrm>
            <a:off x="457200" y="3767328"/>
            <a:ext cx="1874520" cy="502920"/>
          </a:xfrm>
          <a:prstGeom prst="rect">
            <a:avLst/>
          </a:prstGeom>
          <a:noFill/>
          <a:ln/>
        </p:spPr>
        <p:txBody>
          <a:bodyPr wrap="square" lIns="0" tIns="0" rIns="0" bIns="0" rtlCol="0" anchor="b"/>
          <a:lstStyle/>
          <a:p>
            <a:pPr algn="ctr" indent="0" marL="0">
              <a:buNone/>
            </a:pPr>
            <a:r>
              <a:rPr lang="en-US" sz="1800" b="1" dirty="0">
                <a:solidFill>
                  <a:srgbClr val="C9A84C"/>
                </a:solidFill>
                <a:latin typeface="Georgia" pitchFamily="34" charset="0"/>
                <a:ea typeface="Georgia" pitchFamily="34" charset="-122"/>
                <a:cs typeface="Georgia" pitchFamily="34" charset="-120"/>
              </a:rPr>
              <a:t>50+</a:t>
            </a:r>
            <a:endParaRPr lang="en-US" sz="1800" dirty="0"/>
          </a:p>
        </p:txBody>
      </p:sp>
      <p:sp>
        <p:nvSpPr>
          <p:cNvPr id="8" name="Text 6"/>
          <p:cNvSpPr/>
          <p:nvPr/>
        </p:nvSpPr>
        <p:spPr>
          <a:xfrm>
            <a:off x="457200" y="4251960"/>
            <a:ext cx="1874520" cy="32004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Premium Brands</a:t>
            </a:r>
            <a:endParaRPr lang="en-US" sz="1000" dirty="0"/>
          </a:p>
        </p:txBody>
      </p:sp>
      <p:sp>
        <p:nvSpPr>
          <p:cNvPr id="9" name="Shape 7"/>
          <p:cNvSpPr/>
          <p:nvPr/>
        </p:nvSpPr>
        <p:spPr>
          <a:xfrm>
            <a:off x="2514600" y="3749040"/>
            <a:ext cx="1874520" cy="1005840"/>
          </a:xfrm>
          <a:prstGeom prst="rect">
            <a:avLst/>
          </a:prstGeom>
          <a:solidFill>
            <a:srgbClr val="FFFFFF">
              <a:alpha val="90000"/>
            </a:srgbClr>
          </a:solidFill>
          <a:ln w="12700">
            <a:solidFill>
              <a:srgbClr val="FFFFFF">
                <a:alpha val="50000"/>
              </a:srgbClr>
            </a:solidFill>
            <a:prstDash val="solid"/>
          </a:ln>
        </p:spPr>
      </p:sp>
      <p:sp>
        <p:nvSpPr>
          <p:cNvPr id="10" name="Text 8"/>
          <p:cNvSpPr/>
          <p:nvPr/>
        </p:nvSpPr>
        <p:spPr>
          <a:xfrm>
            <a:off x="2514600" y="3767328"/>
            <a:ext cx="1874520" cy="502920"/>
          </a:xfrm>
          <a:prstGeom prst="rect">
            <a:avLst/>
          </a:prstGeom>
          <a:noFill/>
          <a:ln/>
        </p:spPr>
        <p:txBody>
          <a:bodyPr wrap="square" lIns="0" tIns="0" rIns="0" bIns="0" rtlCol="0" anchor="b"/>
          <a:lstStyle/>
          <a:p>
            <a:pPr algn="ctr" indent="0" marL="0">
              <a:buNone/>
            </a:pPr>
            <a:r>
              <a:rPr lang="en-US" sz="1800" b="1" dirty="0">
                <a:solidFill>
                  <a:srgbClr val="C9A84C"/>
                </a:solidFill>
                <a:latin typeface="Georgia" pitchFamily="34" charset="0"/>
                <a:ea typeface="Georgia" pitchFamily="34" charset="-122"/>
                <a:cs typeface="Georgia" pitchFamily="34" charset="-120"/>
              </a:rPr>
              <a:t>Try first</a:t>
            </a:r>
            <a:endParaRPr lang="en-US" sz="1800" dirty="0"/>
          </a:p>
        </p:txBody>
      </p:sp>
      <p:sp>
        <p:nvSpPr>
          <p:cNvPr id="11" name="Text 9"/>
          <p:cNvSpPr/>
          <p:nvPr/>
        </p:nvSpPr>
        <p:spPr>
          <a:xfrm>
            <a:off x="2514600" y="4251960"/>
            <a:ext cx="1874520" cy="32004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Buy after</a:t>
            </a:r>
            <a:endParaRPr lang="en-US" sz="1000" dirty="0"/>
          </a:p>
        </p:txBody>
      </p:sp>
      <p:sp>
        <p:nvSpPr>
          <p:cNvPr id="12" name="Shape 10"/>
          <p:cNvSpPr/>
          <p:nvPr/>
        </p:nvSpPr>
        <p:spPr>
          <a:xfrm>
            <a:off x="4572000" y="3749040"/>
            <a:ext cx="1874520" cy="1005840"/>
          </a:xfrm>
          <a:prstGeom prst="rect">
            <a:avLst/>
          </a:prstGeom>
          <a:solidFill>
            <a:srgbClr val="FFFFFF">
              <a:alpha val="90000"/>
            </a:srgbClr>
          </a:solidFill>
          <a:ln w="12700">
            <a:solidFill>
              <a:srgbClr val="FFFFFF">
                <a:alpha val="50000"/>
              </a:srgbClr>
            </a:solidFill>
            <a:prstDash val="solid"/>
          </a:ln>
        </p:spPr>
      </p:sp>
      <p:sp>
        <p:nvSpPr>
          <p:cNvPr id="13" name="Text 11"/>
          <p:cNvSpPr/>
          <p:nvPr/>
        </p:nvSpPr>
        <p:spPr>
          <a:xfrm>
            <a:off x="4572000" y="3767328"/>
            <a:ext cx="1874520" cy="502920"/>
          </a:xfrm>
          <a:prstGeom prst="rect">
            <a:avLst/>
          </a:prstGeom>
          <a:noFill/>
          <a:ln/>
        </p:spPr>
        <p:txBody>
          <a:bodyPr wrap="square" lIns="0" tIns="0" rIns="0" bIns="0" rtlCol="0" anchor="b"/>
          <a:lstStyle/>
          <a:p>
            <a:pPr algn="ctr" indent="0" marL="0">
              <a:buNone/>
            </a:pPr>
            <a:r>
              <a:rPr lang="en-US" sz="1800" b="1" dirty="0">
                <a:solidFill>
                  <a:srgbClr val="C9A84C"/>
                </a:solidFill>
                <a:latin typeface="Georgia" pitchFamily="34" charset="0"/>
                <a:ea typeface="Georgia" pitchFamily="34" charset="-122"/>
                <a:cs typeface="Georgia" pitchFamily="34" charset="-120"/>
              </a:rPr>
              <a:t>New or used</a:t>
            </a:r>
            <a:endParaRPr lang="en-US" sz="1800" dirty="0"/>
          </a:p>
        </p:txBody>
      </p:sp>
      <p:sp>
        <p:nvSpPr>
          <p:cNvPr id="14" name="Text 12"/>
          <p:cNvSpPr/>
          <p:nvPr/>
        </p:nvSpPr>
        <p:spPr>
          <a:xfrm>
            <a:off x="4572000" y="4251960"/>
            <a:ext cx="1874520" cy="32004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Your choice</a:t>
            </a:r>
            <a:endParaRPr lang="en-US" sz="1000" dirty="0"/>
          </a:p>
        </p:txBody>
      </p:sp>
      <p:sp>
        <p:nvSpPr>
          <p:cNvPr id="15" name="Shape 13"/>
          <p:cNvSpPr/>
          <p:nvPr/>
        </p:nvSpPr>
        <p:spPr>
          <a:xfrm>
            <a:off x="6629400" y="3749040"/>
            <a:ext cx="1874520" cy="1005840"/>
          </a:xfrm>
          <a:prstGeom prst="rect">
            <a:avLst/>
          </a:prstGeom>
          <a:solidFill>
            <a:srgbClr val="FFFFFF">
              <a:alpha val="90000"/>
            </a:srgbClr>
          </a:solidFill>
          <a:ln w="12700">
            <a:solidFill>
              <a:srgbClr val="FFFFFF">
                <a:alpha val="50000"/>
              </a:srgbClr>
            </a:solidFill>
            <a:prstDash val="solid"/>
          </a:ln>
        </p:spPr>
      </p:sp>
      <p:sp>
        <p:nvSpPr>
          <p:cNvPr id="16" name="Text 14"/>
          <p:cNvSpPr/>
          <p:nvPr/>
        </p:nvSpPr>
        <p:spPr>
          <a:xfrm>
            <a:off x="6629400" y="3767328"/>
            <a:ext cx="1874520" cy="502920"/>
          </a:xfrm>
          <a:prstGeom prst="rect">
            <a:avLst/>
          </a:prstGeom>
          <a:noFill/>
          <a:ln/>
        </p:spPr>
        <p:txBody>
          <a:bodyPr wrap="square" lIns="0" tIns="0" rIns="0" bIns="0" rtlCol="0" anchor="b"/>
          <a:lstStyle/>
          <a:p>
            <a:pPr algn="ctr" indent="0" marL="0">
              <a:buNone/>
            </a:pPr>
            <a:r>
              <a:rPr lang="en-US" sz="1800" b="1" dirty="0">
                <a:solidFill>
                  <a:srgbClr val="C9A84C"/>
                </a:solidFill>
                <a:latin typeface="Georgia" pitchFamily="34" charset="0"/>
                <a:ea typeface="Georgia" pitchFamily="34" charset="-122"/>
                <a:cs typeface="Georgia" pitchFamily="34" charset="-120"/>
              </a:rPr>
              <a:t>Sem / Season / Mo</a:t>
            </a:r>
            <a:endParaRPr lang="en-US" sz="1800" dirty="0"/>
          </a:p>
        </p:txBody>
      </p:sp>
      <p:sp>
        <p:nvSpPr>
          <p:cNvPr id="17" name="Text 15"/>
          <p:cNvSpPr/>
          <p:nvPr/>
        </p:nvSpPr>
        <p:spPr>
          <a:xfrm>
            <a:off x="6629400" y="4251960"/>
            <a:ext cx="1874520" cy="32004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Your timeline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340"/>
          </a:solidFill>
          <a:ln w="12700">
            <a:solidFill>
              <a:srgbClr val="1A2340"/>
            </a:solidFill>
            <a:prstDash val="solid"/>
          </a:ln>
        </p:spPr>
      </p:sp>
      <p:sp>
        <p:nvSpPr>
          <p:cNvPr id="3" name="Text 1"/>
          <p:cNvSpPr/>
          <p:nvPr/>
        </p:nvSpPr>
        <p:spPr>
          <a:xfrm>
            <a:off x="365760" y="0"/>
            <a:ext cx="4572000" cy="82296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EMAIL PITCH</a:t>
            </a:r>
            <a:endParaRPr lang="en-US" sz="1100" dirty="0"/>
          </a:p>
        </p:txBody>
      </p:sp>
      <p:sp>
        <p:nvSpPr>
          <p:cNvPr id="4" name="Text 2"/>
          <p:cNvSpPr/>
          <p:nvPr/>
        </p:nvSpPr>
        <p:spPr>
          <a:xfrm>
            <a:off x="3200400" y="0"/>
            <a:ext cx="5577840" cy="822960"/>
          </a:xfrm>
          <a:prstGeom prst="rect">
            <a:avLst/>
          </a:prstGeom>
          <a:noFill/>
          <a:ln/>
        </p:spPr>
        <p:txBody>
          <a:bodyPr wrap="square" lIns="0" tIns="0" rIns="0" bIns="0" rtlCol="0" anchor="ctr"/>
          <a:lstStyle/>
          <a:p>
            <a:pPr algn="r" indent="0" marL="0">
              <a:buNone/>
            </a:pPr>
            <a:r>
              <a:rPr lang="en-US" sz="1000" dirty="0">
                <a:solidFill>
                  <a:srgbClr val="AAAAAA"/>
                </a:solidFill>
                <a:latin typeface="Calibri" pitchFamily="34" charset="0"/>
                <a:ea typeface="Calibri" pitchFamily="34" charset="-122"/>
                <a:cs typeface="Calibri" pitchFamily="34" charset="-120"/>
              </a:rPr>
              <a:t>Cold outreach / Investor intro / Partnership</a:t>
            </a:r>
            <a:endParaRPr lang="en-US" sz="1000" dirty="0"/>
          </a:p>
        </p:txBody>
      </p:sp>
      <p:sp>
        <p:nvSpPr>
          <p:cNvPr id="5" name="Shape 3"/>
          <p:cNvSpPr/>
          <p:nvPr/>
        </p:nvSpPr>
        <p:spPr>
          <a:xfrm>
            <a:off x="365760" y="914400"/>
            <a:ext cx="8412480" cy="3886200"/>
          </a:xfrm>
          <a:prstGeom prst="rect">
            <a:avLst/>
          </a:prstGeom>
          <a:solidFill>
            <a:srgbClr val="FFFFFF"/>
          </a:solidFill>
          <a:ln w="12700">
            <a:solidFill>
              <a:srgbClr val="DDD6C8"/>
            </a:solidFill>
            <a:prstDash val="solid"/>
          </a:ln>
          <a:effectLst>
            <a:outerShdw sx="100000" sy="100000" kx="0" ky="0" algn="bl" rotWithShape="0" blurRad="101600" dist="25400" dir="8100000">
              <a:srgbClr val="000000">
                <a:alpha val="12000"/>
              </a:srgbClr>
            </a:outerShdw>
          </a:effectLst>
        </p:spPr>
      </p:sp>
      <p:sp>
        <p:nvSpPr>
          <p:cNvPr id="6" name="Shape 4"/>
          <p:cNvSpPr/>
          <p:nvPr/>
        </p:nvSpPr>
        <p:spPr>
          <a:xfrm>
            <a:off x="365760" y="914400"/>
            <a:ext cx="8412480" cy="502920"/>
          </a:xfrm>
          <a:prstGeom prst="rect">
            <a:avLst/>
          </a:prstGeom>
          <a:solidFill>
            <a:srgbClr val="F0EDE6"/>
          </a:solidFill>
          <a:ln w="12700">
            <a:solidFill>
              <a:srgbClr val="DDD6C8"/>
            </a:solidFill>
            <a:prstDash val="solid"/>
          </a:ln>
        </p:spPr>
      </p:sp>
      <p:sp>
        <p:nvSpPr>
          <p:cNvPr id="7" name="Text 5"/>
          <p:cNvSpPr/>
          <p:nvPr/>
        </p:nvSpPr>
        <p:spPr>
          <a:xfrm>
            <a:off x="594360" y="914400"/>
            <a:ext cx="8046720" cy="502920"/>
          </a:xfrm>
          <a:prstGeom prst="rect">
            <a:avLst/>
          </a:prstGeom>
          <a:noFill/>
          <a:ln/>
        </p:spPr>
        <p:txBody>
          <a:bodyPr wrap="square" lIns="0" tIns="0" rIns="0" bIns="0" rtlCol="0" anchor="ctr"/>
          <a:lstStyle/>
          <a:p>
            <a:pPr indent="0" marL="0">
              <a:buNone/>
            </a:pPr>
            <a:r>
              <a:rPr lang="en-US" sz="1000" b="1" dirty="0">
                <a:solidFill>
                  <a:srgbClr val="2E2E2E"/>
                </a:solidFill>
                <a:latin typeface="Calibri" pitchFamily="34" charset="0"/>
                <a:ea typeface="Calibri" pitchFamily="34" charset="-122"/>
                <a:cs typeface="Calibri" pitchFamily="34" charset="-120"/>
              </a:rPr>
              <a:t>TO: </a:t>
            </a:r>
            <a:pPr indent="0" marL="0">
              <a:buNone/>
            </a:pPr>
            <a:r>
              <a:rPr lang="en-US" sz="1000" dirty="0">
                <a:solidFill>
                  <a:srgbClr val="555555"/>
                </a:solidFill>
                <a:latin typeface="Calibri" pitchFamily="34" charset="0"/>
                <a:ea typeface="Calibri" pitchFamily="34" charset="-122"/>
                <a:cs typeface="Calibri" pitchFamily="34" charset="-120"/>
              </a:rPr>
              <a:t>partner@vcfirm.com   </a:t>
            </a:r>
            <a:pPr indent="0" marL="0">
              <a:buNone/>
            </a:pPr>
            <a:r>
              <a:rPr lang="en-US" sz="1000" b="1" dirty="0">
                <a:solidFill>
                  <a:srgbClr val="2E2E2E"/>
                </a:solidFill>
                <a:latin typeface="Calibri" pitchFamily="34" charset="0"/>
                <a:ea typeface="Calibri" pitchFamily="34" charset="-122"/>
                <a:cs typeface="Calibri" pitchFamily="34" charset="-120"/>
              </a:rPr>
              <a:t>SUBJ: </a:t>
            </a:r>
            <a:pPr indent="0" marL="0">
              <a:buNone/>
            </a:pPr>
            <a:r>
              <a:rPr lang="en-US" sz="1000" dirty="0">
                <a:solidFill>
                  <a:srgbClr val="555555"/>
                </a:solidFill>
                <a:latin typeface="Calibri" pitchFamily="34" charset="0"/>
                <a:ea typeface="Calibri" pitchFamily="34" charset="-122"/>
                <a:cs typeface="Calibri" pitchFamily="34" charset="-120"/>
              </a:rPr>
              <a:t>College guys deserve a better wardrobe. Here's how we're building it</a:t>
            </a:r>
            <a:endParaRPr lang="en-US" sz="1000" dirty="0"/>
          </a:p>
        </p:txBody>
      </p:sp>
      <p:sp>
        <p:nvSpPr>
          <p:cNvPr id="8" name="Text 6"/>
          <p:cNvSpPr/>
          <p:nvPr/>
        </p:nvSpPr>
        <p:spPr>
          <a:xfrm>
            <a:off x="594360" y="1508760"/>
            <a:ext cx="7955280" cy="3200400"/>
          </a:xfrm>
          <a:prstGeom prst="rect">
            <a:avLst/>
          </a:prstGeom>
          <a:noFill/>
          <a:ln/>
        </p:spPr>
        <p:txBody>
          <a:bodyPr wrap="square" lIns="0" tIns="0" rIns="0" bIns="0" rtlCol="0" anchor="t"/>
          <a:lstStyle/>
          <a:p>
            <a:pPr indent="0" marL="0">
              <a:buNone/>
            </a:pPr>
            <a:r>
              <a:rPr lang="en-US" sz="1100" dirty="0">
                <a:solidFill>
                  <a:srgbClr val="2E2E2E"/>
                </a:solidFill>
                <a:latin typeface="Calibri" pitchFamily="34" charset="0"/>
                <a:ea typeface="Calibri" pitchFamily="34" charset="-122"/>
                <a:cs typeface="Calibri" pitchFamily="34" charset="-120"/>
              </a:rPr>
              <a:t>Hi [Name],
</a:t>
            </a:r>
            <a:endParaRPr lang="en-US" sz="1100" dirty="0"/>
          </a:p>
          <a:p>
            <a:pPr indent="0" marL="0">
              <a:buNone/>
            </a:pPr>
            <a:endParaRPr lang="en-US" sz="1100" dirty="0"/>
          </a:p>
          <a:p>
            <a:pPr indent="0" marL="0">
              <a:buNone/>
            </a:pPr>
            <a:r>
              <a:rPr lang="en-US" sz="1100" dirty="0">
                <a:solidFill>
                  <a:srgbClr val="2E2E2E"/>
                </a:solidFill>
                <a:latin typeface="Calibri" pitchFamily="34" charset="0"/>
                <a:ea typeface="Calibri" pitchFamily="34" charset="-122"/>
                <a:cs typeface="Calibri" pitchFamily="34" charset="-120"/>
              </a:rPr>
              <a:t>I am a college student building something I wish had existed when I started school: </a:t>
            </a:r>
            <a:pPr indent="0" marL="0">
              <a:buNone/>
            </a:pPr>
            <a:r>
              <a:rPr lang="en-US" sz="1100" b="1" dirty="0">
                <a:solidFill>
                  <a:srgbClr val="2E2E2E"/>
                </a:solidFill>
                <a:latin typeface="Calibri" pitchFamily="34" charset="0"/>
                <a:ea typeface="Calibri" pitchFamily="34" charset="-122"/>
                <a:cs typeface="Calibri" pitchFamily="34" charset="-120"/>
              </a:rPr>
              <a:t>a wardrobe subscription that actually makes sense for guys like me.</a:t>
            </a:r>
            <a:pPr indent="0" marL="0">
              <a:buNone/>
            </a:pPr>
            <a:r>
              <a:rPr lang="en-US" sz="1100" dirty="0">
                <a:solidFill>
                  <a:srgbClr val="2E2E2E"/>
                </a:solidFill>
                <a:latin typeface="Calibri" pitchFamily="34" charset="0"/>
                <a:ea typeface="Calibri" pitchFamily="34" charset="-122"/>
                <a:cs typeface="Calibri" pitchFamily="34" charset="-120"/>
              </a:rPr>
              <a:t>
</a:t>
            </a:r>
            <a:endParaRPr lang="en-US" sz="1100" dirty="0"/>
          </a:p>
          <a:p>
            <a:pPr indent="0" marL="0">
              <a:buNone/>
            </a:pPr>
            <a:endParaRPr lang="en-US" sz="1100" dirty="0"/>
          </a:p>
          <a:p>
            <a:pPr indent="0" marL="0">
              <a:buNone/>
            </a:pPr>
            <a:pPr indent="0" marL="0">
              <a:buNone/>
            </a:pPr>
            <a:r>
              <a:rPr lang="en-US" sz="1100" b="1" dirty="0">
                <a:solidFill>
                  <a:srgbClr val="2E2E2E"/>
                </a:solidFill>
                <a:latin typeface="Calibri" pitchFamily="34" charset="0"/>
                <a:ea typeface="Calibri" pitchFamily="34" charset="-122"/>
                <a:cs typeface="Calibri" pitchFamily="34" charset="-120"/>
              </a:rPr>
              <a:t>Davenport Wardrobe</a:t>
            </a:r>
            <a:pPr indent="0" marL="0">
              <a:buNone/>
            </a:pPr>
            <a:r>
              <a:rPr lang="en-US" sz="1100" dirty="0">
                <a:solidFill>
                  <a:srgbClr val="2E2E2E"/>
                </a:solidFill>
                <a:latin typeface="Calibri" pitchFamily="34" charset="0"/>
                <a:ea typeface="Calibri" pitchFamily="34" charset="-122"/>
                <a:cs typeface="Calibri" pitchFamily="34" charset="-120"/>
              </a:rPr>
              <a:t> lets college men try premium clothes from brands like Levi's, Vuori, and Rhone before committing to buying. We ship a curated box to your door, you wear the pieces for the month, keep what you love, and send back what you don't. New or gently used, and </a:t>
            </a:r>
            <a:pPr indent="0" marL="0">
              <a:buNone/>
            </a:pPr>
            <a:r>
              <a:rPr lang="en-US" sz="1100" b="1" dirty="0">
                <a:solidFill>
                  <a:srgbClr val="2E2E2E"/>
                </a:solidFill>
                <a:latin typeface="Calibri" pitchFamily="34" charset="0"/>
                <a:ea typeface="Calibri" pitchFamily="34" charset="-122"/>
                <a:cs typeface="Calibri" pitchFamily="34" charset="-120"/>
              </a:rPr>
              <a:t>flexible subscription lengths by semester, season, or month.</a:t>
            </a:r>
            <a:pPr indent="0" marL="0">
              <a:buNone/>
            </a:pPr>
            <a:r>
              <a:rPr lang="en-US" sz="1100" dirty="0">
                <a:solidFill>
                  <a:srgbClr val="2E2E2E"/>
                </a:solidFill>
                <a:latin typeface="Calibri" pitchFamily="34" charset="0"/>
                <a:ea typeface="Calibri" pitchFamily="34" charset="-122"/>
                <a:cs typeface="Calibri" pitchFamily="34" charset="-120"/>
              </a:rPr>
              <a:t>
</a:t>
            </a:r>
            <a:endParaRPr lang="en-US" sz="1100" dirty="0"/>
          </a:p>
          <a:p>
            <a:pPr indent="0" marL="0">
              <a:buNone/>
            </a:pPr>
            <a:endParaRPr lang="en-US" sz="1100" dirty="0"/>
          </a:p>
          <a:p>
            <a:pPr indent="0" marL="0">
              <a:buNone/>
            </a:pPr>
            <a:r>
              <a:rPr lang="en-US" sz="1100" dirty="0">
                <a:solidFill>
                  <a:srgbClr val="2E2E2E"/>
                </a:solidFill>
                <a:latin typeface="Calibri" pitchFamily="34" charset="0"/>
                <a:ea typeface="Calibri" pitchFamily="34" charset="-122"/>
                <a:cs typeface="Calibri" pitchFamily="34" charset="-120"/>
              </a:rPr>
              <a:t>The problem is real. Guys make impulsive clothing buys all the time, deal with fit issues they cannot return, and skip the brands they actually want because the price feels too risky. We cut all of that out with a </a:t>
            </a:r>
            <a:pPr indent="0" marL="0">
              <a:buNone/>
            </a:pPr>
            <a:r>
              <a:rPr lang="en-US" sz="1100" b="1" dirty="0">
                <a:solidFill>
                  <a:srgbClr val="2E2E2E"/>
                </a:solidFill>
                <a:latin typeface="Calibri" pitchFamily="34" charset="0"/>
                <a:ea typeface="Calibri" pitchFamily="34" charset="-122"/>
                <a:cs typeface="Calibri" pitchFamily="34" charset="-120"/>
              </a:rPr>
              <a:t>try-before-you-buy model</a:t>
            </a:r>
            <a:pPr indent="0" marL="0">
              <a:buNone/>
            </a:pPr>
            <a:r>
              <a:rPr lang="en-US" sz="1100" dirty="0">
                <a:solidFill>
                  <a:srgbClr val="2E2E2E"/>
                </a:solidFill>
                <a:latin typeface="Calibri" pitchFamily="34" charset="0"/>
                <a:ea typeface="Calibri" pitchFamily="34" charset="-122"/>
                <a:cs typeface="Calibri" pitchFamily="34" charset="-120"/>
              </a:rPr>
              <a:t> nobody else is applying to casual everyday wear.
</a:t>
            </a:r>
            <a:endParaRPr lang="en-US" sz="1100" dirty="0"/>
          </a:p>
          <a:p>
            <a:pPr indent="0" marL="0">
              <a:buNone/>
            </a:pPr>
            <a:endParaRPr lang="en-US" sz="1100" dirty="0"/>
          </a:p>
          <a:p>
            <a:pPr indent="0" marL="0">
              <a:buNone/>
            </a:pPr>
            <a:r>
              <a:rPr lang="en-US" sz="1100" dirty="0">
                <a:solidFill>
                  <a:srgbClr val="2E2E2E"/>
                </a:solidFill>
                <a:latin typeface="Calibri" pitchFamily="34" charset="0"/>
                <a:ea typeface="Calibri" pitchFamily="34" charset="-122"/>
                <a:cs typeface="Calibri" pitchFamily="34" charset="-120"/>
              </a:rPr>
              <a:t>We are launching soon and would love to connect. Happy to share a deck or hop on a quick call.
</a:t>
            </a:r>
            <a:endParaRPr lang="en-US" sz="1100" dirty="0"/>
          </a:p>
          <a:p>
            <a:pPr indent="0" marL="0">
              <a:buNone/>
            </a:pPr>
            <a:endParaRPr lang="en-US" sz="1100" dirty="0"/>
          </a:p>
          <a:p>
            <a:pPr indent="0" marL="0">
              <a:buNone/>
            </a:pPr>
            <a:r>
              <a:rPr lang="en-US" sz="1100" dirty="0">
                <a:solidFill>
                  <a:srgbClr val="2E2E2E"/>
                </a:solidFill>
                <a:latin typeface="Calibri" pitchFamily="34" charset="0"/>
                <a:ea typeface="Calibri" pitchFamily="34" charset="-122"/>
                <a:cs typeface="Calibri" pitchFamily="34" charset="-120"/>
              </a:rPr>
              <a:t>Thanks for your time,</a:t>
            </a:r>
            <a:endParaRPr lang="en-US" sz="1100" dirty="0"/>
          </a:p>
          <a:p>
            <a:pPr indent="0" marL="0">
              <a:buNone/>
            </a:pPr>
            <a:r>
              <a:rPr lang="en-US" sz="1100" dirty="0">
                <a:solidFill>
                  <a:srgbClr val="2E2E2E"/>
                </a:solidFill>
                <a:latin typeface="Calibri" pitchFamily="34" charset="0"/>
                <a:ea typeface="Calibri" pitchFamily="34" charset="-122"/>
                <a:cs typeface="Calibri" pitchFamily="34" charset="-120"/>
              </a:rPr>
              <a:t>[Your name], Founder of Davenport Wardrobe</a:t>
            </a:r>
            <a:endParaRPr lang="en-US" sz="1100" dirty="0"/>
          </a:p>
          <a:p>
            <a:pPr indent="0" marL="0">
              <a:buNone/>
            </a:pPr>
            <a:r>
              <a:rPr lang="en-US" sz="1100" dirty="0">
                <a:solidFill>
                  <a:srgbClr val="2E2E2E"/>
                </a:solidFill>
                <a:latin typeface="Calibri" pitchFamily="34" charset="0"/>
                <a:ea typeface="Calibri" pitchFamily="34" charset="-122"/>
                <a:cs typeface="Calibri" pitchFamily="34" charset="-120"/>
              </a:rPr>
              <a:t>davenport-v7.vercel.app</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7B5"/>
          </a:solidFill>
          <a:ln w="12700">
            <a:solidFill>
              <a:srgbClr val="0077B5"/>
            </a:solidFill>
            <a:prstDash val="solid"/>
          </a:ln>
        </p:spPr>
      </p:sp>
      <p:sp>
        <p:nvSpPr>
          <p:cNvPr id="3" name="Text 1"/>
          <p:cNvSpPr/>
          <p:nvPr/>
        </p:nvSpPr>
        <p:spPr>
          <a:xfrm>
            <a:off x="365760" y="0"/>
            <a:ext cx="4572000" cy="8229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LINKEDIN INMAIL</a:t>
            </a:r>
            <a:endParaRPr lang="en-US" sz="1100" dirty="0"/>
          </a:p>
        </p:txBody>
      </p:sp>
      <p:sp>
        <p:nvSpPr>
          <p:cNvPr id="4" name="Text 2"/>
          <p:cNvSpPr/>
          <p:nvPr/>
        </p:nvSpPr>
        <p:spPr>
          <a:xfrm>
            <a:off x="3200400" y="0"/>
            <a:ext cx="5577840" cy="822960"/>
          </a:xfrm>
          <a:prstGeom prst="rect">
            <a:avLst/>
          </a:prstGeom>
          <a:noFill/>
          <a:ln/>
        </p:spPr>
        <p:txBody>
          <a:bodyPr wrap="square" lIns="0" tIns="0" rIns="0" bIns="0" rtlCol="0" anchor="ctr"/>
          <a:lstStyle/>
          <a:p>
            <a:pPr algn="r" indent="0" marL="0">
              <a:buNone/>
            </a:pPr>
            <a:r>
              <a:rPr lang="en-US" sz="1000" dirty="0">
                <a:solidFill>
                  <a:srgbClr val="CCE5F5"/>
                </a:solidFill>
                <a:latin typeface="Calibri" pitchFamily="34" charset="0"/>
                <a:ea typeface="Calibri" pitchFamily="34" charset="-122"/>
                <a:cs typeface="Calibri" pitchFamily="34" charset="-120"/>
              </a:rPr>
              <a:t>Investor / Mentor / Advisor outreach</a:t>
            </a:r>
            <a:endParaRPr lang="en-US" sz="1000" dirty="0"/>
          </a:p>
        </p:txBody>
      </p:sp>
      <p:sp>
        <p:nvSpPr>
          <p:cNvPr id="5" name="Shape 3"/>
          <p:cNvSpPr/>
          <p:nvPr/>
        </p:nvSpPr>
        <p:spPr>
          <a:xfrm>
            <a:off x="365760" y="914400"/>
            <a:ext cx="8412480" cy="3886200"/>
          </a:xfrm>
          <a:prstGeom prst="rect">
            <a:avLst/>
          </a:prstGeom>
          <a:solidFill>
            <a:srgbClr val="FFFFFF"/>
          </a:solidFill>
          <a:ln w="12700">
            <a:solidFill>
              <a:srgbClr val="D0D0D0"/>
            </a:solidFill>
            <a:prstDash val="solid"/>
          </a:ln>
          <a:effectLst>
            <a:outerShdw sx="100000" sy="100000" kx="0" ky="0" algn="bl" rotWithShape="0" blurRad="101600" dist="25400" dir="8100000">
              <a:srgbClr val="000000">
                <a:alpha val="12000"/>
              </a:srgbClr>
            </a:outerShdw>
          </a:effectLst>
        </p:spPr>
      </p:sp>
      <p:sp>
        <p:nvSpPr>
          <p:cNvPr id="6" name="Shape 4"/>
          <p:cNvSpPr/>
          <p:nvPr/>
        </p:nvSpPr>
        <p:spPr>
          <a:xfrm>
            <a:off x="365760" y="914400"/>
            <a:ext cx="8412480" cy="457200"/>
          </a:xfrm>
          <a:prstGeom prst="rect">
            <a:avLst/>
          </a:prstGeom>
          <a:solidFill>
            <a:srgbClr val="E9F3FB"/>
          </a:solidFill>
          <a:ln w="12700">
            <a:solidFill>
              <a:srgbClr val="D0D0D0"/>
            </a:solidFill>
            <a:prstDash val="solid"/>
          </a:ln>
        </p:spPr>
      </p:sp>
      <p:sp>
        <p:nvSpPr>
          <p:cNvPr id="7" name="Text 5"/>
          <p:cNvSpPr/>
          <p:nvPr/>
        </p:nvSpPr>
        <p:spPr>
          <a:xfrm>
            <a:off x="594360" y="914400"/>
            <a:ext cx="7955280" cy="457200"/>
          </a:xfrm>
          <a:prstGeom prst="rect">
            <a:avLst/>
          </a:prstGeom>
          <a:noFill/>
          <a:ln/>
        </p:spPr>
        <p:txBody>
          <a:bodyPr wrap="square" lIns="0" tIns="0" rIns="0" bIns="0" rtlCol="0" anchor="ctr"/>
          <a:lstStyle/>
          <a:p>
            <a:pPr indent="0" marL="0">
              <a:buNone/>
            </a:pPr>
            <a:r>
              <a:rPr lang="en-US" sz="1000" b="1" dirty="0">
                <a:solidFill>
                  <a:srgbClr val="0077B5"/>
                </a:solidFill>
                <a:latin typeface="Calibri" pitchFamily="34" charset="0"/>
                <a:ea typeface="Calibri" pitchFamily="34" charset="-122"/>
                <a:cs typeface="Calibri" pitchFamily="34" charset="-120"/>
              </a:rPr>
              <a:t>LinkedIn InMail   New Message</a:t>
            </a:r>
            <a:endParaRPr lang="en-US" sz="1000" dirty="0"/>
          </a:p>
        </p:txBody>
      </p:sp>
      <p:sp>
        <p:nvSpPr>
          <p:cNvPr id="8" name="Text 6"/>
          <p:cNvSpPr/>
          <p:nvPr/>
        </p:nvSpPr>
        <p:spPr>
          <a:xfrm>
            <a:off x="594360" y="1463040"/>
            <a:ext cx="7955280" cy="3246120"/>
          </a:xfrm>
          <a:prstGeom prst="rect">
            <a:avLst/>
          </a:prstGeom>
          <a:noFill/>
          <a:ln/>
        </p:spPr>
        <p:txBody>
          <a:bodyPr wrap="square" lIns="0" tIns="0" rIns="0" bIns="0" rtlCol="0" anchor="t"/>
          <a:lstStyle/>
          <a:p>
            <a:pPr indent="0" marL="0">
              <a:buNone/>
            </a:pPr>
            <a:r>
              <a:rPr lang="en-US" sz="1150" dirty="0">
                <a:solidFill>
                  <a:srgbClr val="2E2E2E"/>
                </a:solidFill>
                <a:latin typeface="Calibri" pitchFamily="34" charset="0"/>
                <a:ea typeface="Calibri" pitchFamily="34" charset="-122"/>
                <a:cs typeface="Calibri" pitchFamily="34" charset="-120"/>
              </a:rPr>
              <a:t>Subject: Quick intro, college wardrobe startup
</a:t>
            </a:r>
            <a:endParaRPr lang="en-US" sz="1150" dirty="0"/>
          </a:p>
          <a:p>
            <a:pPr indent="0" marL="0">
              <a:buNone/>
            </a:pPr>
            <a:endParaRPr lang="en-US" sz="1150" dirty="0"/>
          </a:p>
          <a:p>
            <a:pPr indent="0" marL="0">
              <a:buNone/>
            </a:pPr>
            <a:r>
              <a:rPr lang="en-US" sz="1150" dirty="0">
                <a:solidFill>
                  <a:srgbClr val="2E2E2E"/>
                </a:solidFill>
                <a:latin typeface="Calibri" pitchFamily="34" charset="0"/>
                <a:ea typeface="Calibri" pitchFamily="34" charset="-122"/>
                <a:cs typeface="Calibri" pitchFamily="34" charset="-120"/>
              </a:rPr>
              <a:t>Hi [Name],
</a:t>
            </a:r>
            <a:endParaRPr lang="en-US" sz="1150" dirty="0"/>
          </a:p>
          <a:p>
            <a:pPr indent="0" marL="0">
              <a:buNone/>
            </a:pPr>
            <a:endParaRPr lang="en-US" sz="1150" dirty="0"/>
          </a:p>
          <a:p>
            <a:pPr indent="0" marL="0">
              <a:buNone/>
            </a:pPr>
            <a:r>
              <a:rPr lang="en-US" sz="1150" dirty="0">
                <a:solidFill>
                  <a:srgbClr val="2E2E2E"/>
                </a:solidFill>
                <a:latin typeface="Calibri" pitchFamily="34" charset="0"/>
                <a:ea typeface="Calibri" pitchFamily="34" charset="-122"/>
                <a:cs typeface="Calibri" pitchFamily="34" charset="-120"/>
              </a:rPr>
              <a:t>I came across your work in [consumer / retail / fashion tech] and wanted to reach out.
</a:t>
            </a:r>
            <a:endParaRPr lang="en-US" sz="1150" dirty="0"/>
          </a:p>
          <a:p>
            <a:pPr indent="0" marL="0">
              <a:buNone/>
            </a:pPr>
            <a:endParaRPr lang="en-US" sz="1150" dirty="0"/>
          </a:p>
          <a:p>
            <a:pPr indent="0" marL="0">
              <a:buNone/>
            </a:pPr>
            <a:r>
              <a:rPr lang="en-US" sz="1150" dirty="0">
                <a:solidFill>
                  <a:srgbClr val="2E2E2E"/>
                </a:solidFill>
                <a:latin typeface="Calibri" pitchFamily="34" charset="0"/>
                <a:ea typeface="Calibri" pitchFamily="34" charset="-122"/>
                <a:cs typeface="Calibri" pitchFamily="34" charset="-120"/>
              </a:rPr>
              <a:t>I am building </a:t>
            </a:r>
            <a:pPr indent="0" marL="0">
              <a:buNone/>
            </a:pPr>
            <a:r>
              <a:rPr lang="en-US" sz="1150" b="1" dirty="0">
                <a:solidFill>
                  <a:srgbClr val="2E2E2E"/>
                </a:solidFill>
                <a:latin typeface="Calibri" pitchFamily="34" charset="0"/>
                <a:ea typeface="Calibri" pitchFamily="34" charset="-122"/>
                <a:cs typeface="Calibri" pitchFamily="34" charset="-120"/>
              </a:rPr>
              <a:t>Davenport Wardrobe,</a:t>
            </a:r>
            <a:pPr indent="0" marL="0">
              <a:buNone/>
            </a:pPr>
            <a:r>
              <a:rPr lang="en-US" sz="1150" dirty="0">
                <a:solidFill>
                  <a:srgbClr val="2E2E2E"/>
                </a:solidFill>
                <a:latin typeface="Calibri" pitchFamily="34" charset="0"/>
                <a:ea typeface="Calibri" pitchFamily="34" charset="-122"/>
                <a:cs typeface="Calibri" pitchFamily="34" charset="-120"/>
              </a:rPr>
              <a:t> a subscription clothing service for college men. The model is simple: we ship a curated box of pieces from </a:t>
            </a:r>
            <a:pPr indent="0" marL="0">
              <a:buNone/>
            </a:pPr>
            <a:r>
              <a:rPr lang="en-US" sz="1150" b="1" dirty="0">
                <a:solidFill>
                  <a:srgbClr val="2E2E2E"/>
                </a:solidFill>
                <a:latin typeface="Calibri" pitchFamily="34" charset="0"/>
                <a:ea typeface="Calibri" pitchFamily="34" charset="-122"/>
                <a:cs typeface="Calibri" pitchFamily="34" charset="-120"/>
              </a:rPr>
              <a:t>50+ premium brands,</a:t>
            </a:r>
            <a:pPr indent="0" marL="0">
              <a:buNone/>
            </a:pPr>
            <a:r>
              <a:rPr lang="en-US" sz="1150" dirty="0">
                <a:solidFill>
                  <a:srgbClr val="2E2E2E"/>
                </a:solidFill>
                <a:latin typeface="Calibri" pitchFamily="34" charset="0"/>
                <a:ea typeface="Calibri" pitchFamily="34" charset="-122"/>
                <a:cs typeface="Calibri" pitchFamily="34" charset="-120"/>
              </a:rPr>
              <a:t> students wear everything and keep what they love, and send back the rest. No commitment, no risk.
</a:t>
            </a:r>
            <a:endParaRPr lang="en-US" sz="1150" dirty="0"/>
          </a:p>
          <a:p>
            <a:pPr indent="0" marL="0">
              <a:buNone/>
            </a:pPr>
            <a:endParaRPr lang="en-US" sz="1150" dirty="0"/>
          </a:p>
          <a:p>
            <a:pPr indent="0" marL="0">
              <a:buNone/>
            </a:pPr>
            <a:r>
              <a:rPr lang="en-US" sz="1150" dirty="0">
                <a:solidFill>
                  <a:srgbClr val="2E2E2E"/>
                </a:solidFill>
                <a:latin typeface="Calibri" pitchFamily="34" charset="0"/>
                <a:ea typeface="Calibri" pitchFamily="34" charset="-122"/>
                <a:cs typeface="Calibri" pitchFamily="34" charset="-120"/>
              </a:rPr>
              <a:t>We are applying the </a:t>
            </a:r>
            <a:pPr indent="0" marL="0">
              <a:buNone/>
            </a:pPr>
            <a:r>
              <a:rPr lang="en-US" sz="1150" b="1" dirty="0">
                <a:solidFill>
                  <a:srgbClr val="2E2E2E"/>
                </a:solidFill>
                <a:latin typeface="Calibri" pitchFamily="34" charset="0"/>
                <a:ea typeface="Calibri" pitchFamily="34" charset="-122"/>
                <a:cs typeface="Calibri" pitchFamily="34" charset="-120"/>
              </a:rPr>
              <a:t>try-before-you-buy concept</a:t>
            </a:r>
            <a:pPr indent="0" marL="0">
              <a:buNone/>
            </a:pPr>
            <a:r>
              <a:rPr lang="en-US" sz="1150" dirty="0">
                <a:solidFill>
                  <a:srgbClr val="2E2E2E"/>
                </a:solidFill>
                <a:latin typeface="Calibri" pitchFamily="34" charset="0"/>
                <a:ea typeface="Calibri" pitchFamily="34" charset="-122"/>
                <a:cs typeface="Calibri" pitchFamily="34" charset="-120"/>
              </a:rPr>
              <a:t> specifically to everyday casual wear for college guys, a space that formal rental services and traditional retail have completely ignored. </a:t>
            </a:r>
            <a:pPr indent="0" marL="0">
              <a:buNone/>
            </a:pPr>
            <a:r>
              <a:rPr lang="en-US" sz="1150" b="1" dirty="0">
                <a:solidFill>
                  <a:srgbClr val="2E2E2E"/>
                </a:solidFill>
                <a:latin typeface="Calibri" pitchFamily="34" charset="0"/>
                <a:ea typeface="Calibri" pitchFamily="34" charset="-122"/>
                <a:cs typeface="Calibri" pitchFamily="34" charset="-120"/>
              </a:rPr>
              <a:t>Subscriptions are flexible</a:t>
            </a:r>
            <a:pPr indent="0" marL="0">
              <a:buNone/>
            </a:pPr>
            <a:r>
              <a:rPr lang="en-US" sz="1150" dirty="0">
                <a:solidFill>
                  <a:srgbClr val="2E2E2E"/>
                </a:solidFill>
                <a:latin typeface="Calibri" pitchFamily="34" charset="0"/>
                <a:ea typeface="Calibri" pitchFamily="34" charset="-122"/>
                <a:cs typeface="Calibri" pitchFamily="34" charset="-120"/>
              </a:rPr>
              <a:t> by semester, season, or month, and we carry both new and gently used inventory.
</a:t>
            </a:r>
            <a:endParaRPr lang="en-US" sz="1150" dirty="0"/>
          </a:p>
          <a:p>
            <a:pPr indent="0" marL="0">
              <a:buNone/>
            </a:pPr>
            <a:endParaRPr lang="en-US" sz="1150" dirty="0"/>
          </a:p>
          <a:p>
            <a:pPr indent="0" marL="0">
              <a:buNone/>
            </a:pPr>
            <a:r>
              <a:rPr lang="en-US" sz="1150" dirty="0">
                <a:solidFill>
                  <a:srgbClr val="2E2E2E"/>
                </a:solidFill>
                <a:latin typeface="Calibri" pitchFamily="34" charset="0"/>
                <a:ea typeface="Calibri" pitchFamily="34" charset="-122"/>
                <a:cs typeface="Calibri" pitchFamily="34" charset="-120"/>
              </a:rPr>
              <a:t>I would love to grab 15 minutes to share what we are building and hear your perspective. Happy to send over the deck first if that's easier.
</a:t>
            </a:r>
            <a:endParaRPr lang="en-US" sz="1150" dirty="0"/>
          </a:p>
          <a:p>
            <a:pPr indent="0" marL="0">
              <a:buNone/>
            </a:pPr>
            <a:endParaRPr lang="en-US" sz="1150" dirty="0"/>
          </a:p>
          <a:p>
            <a:pPr indent="0" marL="0">
              <a:buNone/>
            </a:pPr>
            <a:r>
              <a:rPr lang="en-US" sz="1150" dirty="0">
                <a:solidFill>
                  <a:srgbClr val="2E2E2E"/>
                </a:solidFill>
                <a:latin typeface="Calibri" pitchFamily="34" charset="0"/>
                <a:ea typeface="Calibri" pitchFamily="34" charset="-122"/>
                <a:cs typeface="Calibri" pitchFamily="34" charset="-120"/>
              </a:rPr>
              <a:t>Thanks so much,</a:t>
            </a:r>
            <a:endParaRPr lang="en-US" sz="1150" dirty="0"/>
          </a:p>
          <a:p>
            <a:pPr indent="0" marL="0">
              <a:buNone/>
            </a:pPr>
            <a:r>
              <a:rPr lang="en-US" sz="1150" dirty="0">
                <a:solidFill>
                  <a:srgbClr val="2E2E2E"/>
                </a:solidFill>
                <a:latin typeface="Calibri" pitchFamily="34" charset="0"/>
                <a:ea typeface="Calibri" pitchFamily="34" charset="-122"/>
                <a:cs typeface="Calibri" pitchFamily="34" charset="-120"/>
              </a:rPr>
              <a:t>[Your name]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34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9A84C"/>
          </a:solidFill>
          <a:ln w="12700">
            <a:solidFill>
              <a:srgbClr val="C9A84C"/>
            </a:solidFill>
            <a:prstDash val="solid"/>
          </a:ln>
        </p:spPr>
      </p:sp>
      <p:sp>
        <p:nvSpPr>
          <p:cNvPr id="3" name="Text 1"/>
          <p:cNvSpPr/>
          <p:nvPr/>
        </p:nvSpPr>
        <p:spPr>
          <a:xfrm>
            <a:off x="365760" y="0"/>
            <a:ext cx="8229600" cy="822960"/>
          </a:xfrm>
          <a:prstGeom prst="rect">
            <a:avLst/>
          </a:prstGeom>
          <a:noFill/>
          <a:ln/>
        </p:spPr>
        <p:txBody>
          <a:bodyPr wrap="square" lIns="0" tIns="0" rIns="0" bIns="0" rtlCol="0" anchor="ctr"/>
          <a:lstStyle/>
          <a:p>
            <a:pPr indent="0" marL="0">
              <a:buNone/>
            </a:pPr>
            <a:r>
              <a:rPr lang="en-US" sz="1100" b="1" spc="300" kern="0" dirty="0">
                <a:solidFill>
                  <a:srgbClr val="1A2340"/>
                </a:solidFill>
                <a:latin typeface="Calibri" pitchFamily="34" charset="0"/>
                <a:ea typeface="Calibri" pitchFamily="34" charset="-122"/>
                <a:cs typeface="Calibri" pitchFamily="34" charset="-120"/>
              </a:rPr>
              <a:t>200-CHARACTER DM</a:t>
            </a:r>
            <a:endParaRPr lang="en-US" sz="1100" dirty="0"/>
          </a:p>
        </p:txBody>
      </p:sp>
      <p:sp>
        <p:nvSpPr>
          <p:cNvPr id="4" name="Shape 2"/>
          <p:cNvSpPr/>
          <p:nvPr/>
        </p:nvSpPr>
        <p:spPr>
          <a:xfrm>
            <a:off x="1097280" y="1005840"/>
            <a:ext cx="6949440" cy="2377440"/>
          </a:xfrm>
          <a:prstGeom prst="rect">
            <a:avLst/>
          </a:prstGeom>
          <a:solidFill>
            <a:srgbClr val="0F2040"/>
          </a:solidFill>
          <a:ln w="12700">
            <a:solidFill>
              <a:srgbClr val="C9A84C"/>
            </a:solidFill>
            <a:prstDash val="solid"/>
          </a:ln>
          <a:effectLst>
            <a:outerShdw sx="100000" sy="100000" kx="0" ky="0" algn="bl" rotWithShape="0" blurRad="101600" dist="25400" dir="8100000">
              <a:srgbClr val="000000">
                <a:alpha val="12000"/>
              </a:srgbClr>
            </a:outerShdw>
          </a:effectLst>
        </p:spPr>
      </p:sp>
      <p:sp>
        <p:nvSpPr>
          <p:cNvPr id="5" name="Text 3"/>
          <p:cNvSpPr/>
          <p:nvPr/>
        </p:nvSpPr>
        <p:spPr>
          <a:xfrm>
            <a:off x="1371600" y="1188720"/>
            <a:ext cx="6400800" cy="2011680"/>
          </a:xfrm>
          <a:prstGeom prst="rect">
            <a:avLst/>
          </a:prstGeom>
          <a:noFill/>
          <a:ln/>
        </p:spPr>
        <p:txBody>
          <a:bodyPr wrap="square" lIns="0" tIns="0" rIns="0" bIns="0" rtlCol="0" anchor="ctr"/>
          <a:lstStyle/>
          <a:p>
            <a:pPr algn="ctr" indent="0" marL="0">
              <a:buNone/>
            </a:pPr>
            <a:r>
              <a:rPr lang="en-US" sz="1900" i="1" dirty="0">
                <a:solidFill>
                  <a:srgbClr val="FFFFFF"/>
                </a:solidFill>
                <a:latin typeface="Georgia" pitchFamily="34" charset="0"/>
                <a:ea typeface="Georgia" pitchFamily="34" charset="-122"/>
                <a:cs typeface="Georgia" pitchFamily="34" charset="-120"/>
              </a:rPr>
              <a:t>Davenport ships college guys a box of premium clothes to try for the month. Keep what you love, send back the rest. Try-before-you-buy for your everyday wardrobe.</a:t>
            </a:r>
            <a:endParaRPr lang="en-US" sz="1900" dirty="0"/>
          </a:p>
        </p:txBody>
      </p:sp>
      <p:sp>
        <p:nvSpPr>
          <p:cNvPr id="6" name="Shape 4"/>
          <p:cNvSpPr/>
          <p:nvPr/>
        </p:nvSpPr>
        <p:spPr>
          <a:xfrm>
            <a:off x="7680960" y="868680"/>
            <a:ext cx="914400" cy="548640"/>
          </a:xfrm>
          <a:prstGeom prst="ellipse">
            <a:avLst/>
          </a:prstGeom>
          <a:solidFill>
            <a:srgbClr val="C9A84C"/>
          </a:solidFill>
          <a:ln w="12700">
            <a:solidFill>
              <a:srgbClr val="C9A84C"/>
            </a:solidFill>
            <a:prstDash val="solid"/>
          </a:ln>
        </p:spPr>
      </p:sp>
      <p:sp>
        <p:nvSpPr>
          <p:cNvPr id="7" name="Text 5"/>
          <p:cNvSpPr/>
          <p:nvPr/>
        </p:nvSpPr>
        <p:spPr>
          <a:xfrm>
            <a:off x="7680960" y="868680"/>
            <a:ext cx="914400" cy="548640"/>
          </a:xfrm>
          <a:prstGeom prst="rect">
            <a:avLst/>
          </a:prstGeom>
          <a:noFill/>
          <a:ln/>
        </p:spPr>
        <p:txBody>
          <a:bodyPr wrap="square" lIns="0" tIns="0" rIns="0" bIns="0" rtlCol="0" anchor="ctr"/>
          <a:lstStyle/>
          <a:p>
            <a:pPr algn="ctr" indent="0" marL="0">
              <a:buNone/>
            </a:pPr>
            <a:r>
              <a:rPr lang="en-US" sz="900" b="1" dirty="0">
                <a:solidFill>
                  <a:srgbClr val="1A2340"/>
                </a:solidFill>
                <a:latin typeface="Calibri" pitchFamily="34" charset="0"/>
                <a:ea typeface="Calibri" pitchFamily="34" charset="-122"/>
                <a:cs typeface="Calibri" pitchFamily="34" charset="-120"/>
              </a:rPr>
              <a:t>170 ch</a:t>
            </a:r>
            <a:endParaRPr lang="en-US" sz="900" dirty="0"/>
          </a:p>
        </p:txBody>
      </p:sp>
      <p:sp>
        <p:nvSpPr>
          <p:cNvPr id="8" name="Text 6"/>
          <p:cNvSpPr/>
          <p:nvPr/>
        </p:nvSpPr>
        <p:spPr>
          <a:xfrm>
            <a:off x="0" y="3566160"/>
            <a:ext cx="9144000" cy="411480"/>
          </a:xfrm>
          <a:prstGeom prst="rect">
            <a:avLst/>
          </a:prstGeom>
          <a:noFill/>
          <a:ln/>
        </p:spPr>
        <p:txBody>
          <a:bodyPr wrap="square" lIns="0" tIns="0" rIns="0" bIns="0" rtlCol="0" anchor="ctr"/>
          <a:lstStyle/>
          <a:p>
            <a:pPr algn="ctr" indent="0" marL="0">
              <a:buNone/>
            </a:pPr>
            <a:r>
              <a:rPr lang="en-US" sz="1000" dirty="0">
                <a:solidFill>
                  <a:srgbClr val="AAAAAA"/>
                </a:solidFill>
                <a:latin typeface="Calibri" pitchFamily="34" charset="0"/>
                <a:ea typeface="Calibri" pitchFamily="34" charset="-122"/>
                <a:cs typeface="Calibri" pitchFamily="34" charset="-120"/>
              </a:rPr>
              <a:t>Works on: Instagram DM   Twitter/X DM   iMessage   Snapchat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340"/>
          </a:solidFill>
          <a:ln w="12700">
            <a:solidFill>
              <a:srgbClr val="1A2340"/>
            </a:solidFill>
            <a:prstDash val="solid"/>
          </a:ln>
        </p:spPr>
      </p:sp>
      <p:sp>
        <p:nvSpPr>
          <p:cNvPr id="3" name="Text 1"/>
          <p:cNvSpPr/>
          <p:nvPr/>
        </p:nvSpPr>
        <p:spPr>
          <a:xfrm>
            <a:off x="365760" y="0"/>
            <a:ext cx="8229600" cy="82296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TWITTER / X THREAD OPENER</a:t>
            </a:r>
            <a:endParaRPr lang="en-US" sz="1100" dirty="0"/>
          </a:p>
        </p:txBody>
      </p:sp>
      <p:sp>
        <p:nvSpPr>
          <p:cNvPr id="4" name="Shape 2"/>
          <p:cNvSpPr/>
          <p:nvPr/>
        </p:nvSpPr>
        <p:spPr>
          <a:xfrm>
            <a:off x="274320" y="960120"/>
            <a:ext cx="4160520" cy="1600200"/>
          </a:xfrm>
          <a:prstGeom prst="rect">
            <a:avLst/>
          </a:prstGeom>
          <a:solidFill>
            <a:srgbClr val="1A2840"/>
          </a:solidFill>
          <a:ln w="12700">
            <a:solidFill>
              <a:srgbClr val="2A3850"/>
            </a:solidFill>
            <a:prstDash val="solid"/>
          </a:ln>
        </p:spPr>
      </p:sp>
      <p:sp>
        <p:nvSpPr>
          <p:cNvPr id="5" name="Text 3"/>
          <p:cNvSpPr/>
          <p:nvPr/>
        </p:nvSpPr>
        <p:spPr>
          <a:xfrm>
            <a:off x="438912" y="1051560"/>
            <a:ext cx="502920" cy="365760"/>
          </a:xfrm>
          <a:prstGeom prst="rect">
            <a:avLst/>
          </a:prstGeom>
          <a:noFill/>
          <a:ln/>
        </p:spPr>
        <p:txBody>
          <a:bodyPr wrap="square" lIns="0" tIns="0" rIns="0" bIns="0" rtlCol="0" anchor="ctr"/>
          <a:lstStyle/>
          <a:p>
            <a:pPr indent="0" marL="0">
              <a:buNone/>
            </a:pPr>
            <a:r>
              <a:rPr lang="en-US" sz="1300" b="1" dirty="0">
                <a:solidFill>
                  <a:srgbClr val="C9A84C"/>
                </a:solidFill>
                <a:latin typeface="Georgia" pitchFamily="34" charset="0"/>
                <a:ea typeface="Georgia" pitchFamily="34" charset="-122"/>
                <a:cs typeface="Georgia" pitchFamily="34" charset="-120"/>
              </a:rPr>
              <a:t>1/</a:t>
            </a:r>
            <a:endParaRPr lang="en-US" sz="1300" dirty="0"/>
          </a:p>
        </p:txBody>
      </p:sp>
      <p:sp>
        <p:nvSpPr>
          <p:cNvPr id="6" name="Text 4"/>
          <p:cNvSpPr/>
          <p:nvPr/>
        </p:nvSpPr>
        <p:spPr>
          <a:xfrm>
            <a:off x="438912" y="1371600"/>
            <a:ext cx="3794760" cy="10972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College guys spend hundreds on clothes they wear twice. I built something to fix that. Introducing Davenport Wardrobe.</a:t>
            </a:r>
            <a:endParaRPr lang="en-US" sz="1150" dirty="0"/>
          </a:p>
        </p:txBody>
      </p:sp>
      <p:sp>
        <p:nvSpPr>
          <p:cNvPr id="7" name="Shape 5"/>
          <p:cNvSpPr/>
          <p:nvPr/>
        </p:nvSpPr>
        <p:spPr>
          <a:xfrm>
            <a:off x="4754880" y="960120"/>
            <a:ext cx="4160520" cy="1600200"/>
          </a:xfrm>
          <a:prstGeom prst="rect">
            <a:avLst/>
          </a:prstGeom>
          <a:solidFill>
            <a:srgbClr val="1A2840"/>
          </a:solidFill>
          <a:ln w="12700">
            <a:solidFill>
              <a:srgbClr val="2A3850"/>
            </a:solidFill>
            <a:prstDash val="solid"/>
          </a:ln>
        </p:spPr>
      </p:sp>
      <p:sp>
        <p:nvSpPr>
          <p:cNvPr id="8" name="Text 6"/>
          <p:cNvSpPr/>
          <p:nvPr/>
        </p:nvSpPr>
        <p:spPr>
          <a:xfrm>
            <a:off x="4919472" y="1051560"/>
            <a:ext cx="502920" cy="365760"/>
          </a:xfrm>
          <a:prstGeom prst="rect">
            <a:avLst/>
          </a:prstGeom>
          <a:noFill/>
          <a:ln/>
        </p:spPr>
        <p:txBody>
          <a:bodyPr wrap="square" lIns="0" tIns="0" rIns="0" bIns="0" rtlCol="0" anchor="ctr"/>
          <a:lstStyle/>
          <a:p>
            <a:pPr indent="0" marL="0">
              <a:buNone/>
            </a:pPr>
            <a:r>
              <a:rPr lang="en-US" sz="1300" b="1" dirty="0">
                <a:solidFill>
                  <a:srgbClr val="C9A84C"/>
                </a:solidFill>
                <a:latin typeface="Georgia" pitchFamily="34" charset="0"/>
                <a:ea typeface="Georgia" pitchFamily="34" charset="-122"/>
                <a:cs typeface="Georgia" pitchFamily="34" charset="-120"/>
              </a:rPr>
              <a:t>2/</a:t>
            </a:r>
            <a:endParaRPr lang="en-US" sz="1300" dirty="0"/>
          </a:p>
        </p:txBody>
      </p:sp>
      <p:sp>
        <p:nvSpPr>
          <p:cNvPr id="9" name="Text 7"/>
          <p:cNvSpPr/>
          <p:nvPr/>
        </p:nvSpPr>
        <p:spPr>
          <a:xfrm>
            <a:off x="4919472" y="1371600"/>
            <a:ext cx="3794760" cy="10972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We ship a box of premium pieces from 50+ brands like Levi's, Rhone, and Vuori. You wear them for a month. Keep what you love. Send back the rest.</a:t>
            </a:r>
            <a:endParaRPr lang="en-US" sz="1150" dirty="0"/>
          </a:p>
        </p:txBody>
      </p:sp>
      <p:sp>
        <p:nvSpPr>
          <p:cNvPr id="10" name="Shape 8"/>
          <p:cNvSpPr/>
          <p:nvPr/>
        </p:nvSpPr>
        <p:spPr>
          <a:xfrm>
            <a:off x="274320" y="2697480"/>
            <a:ext cx="4160520" cy="1600200"/>
          </a:xfrm>
          <a:prstGeom prst="rect">
            <a:avLst/>
          </a:prstGeom>
          <a:solidFill>
            <a:srgbClr val="1A2840"/>
          </a:solidFill>
          <a:ln w="12700">
            <a:solidFill>
              <a:srgbClr val="2A3850"/>
            </a:solidFill>
            <a:prstDash val="solid"/>
          </a:ln>
        </p:spPr>
      </p:sp>
      <p:sp>
        <p:nvSpPr>
          <p:cNvPr id="11" name="Text 9"/>
          <p:cNvSpPr/>
          <p:nvPr/>
        </p:nvSpPr>
        <p:spPr>
          <a:xfrm>
            <a:off x="438912" y="2788920"/>
            <a:ext cx="502920" cy="365760"/>
          </a:xfrm>
          <a:prstGeom prst="rect">
            <a:avLst/>
          </a:prstGeom>
          <a:noFill/>
          <a:ln/>
        </p:spPr>
        <p:txBody>
          <a:bodyPr wrap="square" lIns="0" tIns="0" rIns="0" bIns="0" rtlCol="0" anchor="ctr"/>
          <a:lstStyle/>
          <a:p>
            <a:pPr indent="0" marL="0">
              <a:buNone/>
            </a:pPr>
            <a:r>
              <a:rPr lang="en-US" sz="1300" b="1" dirty="0">
                <a:solidFill>
                  <a:srgbClr val="C9A84C"/>
                </a:solidFill>
                <a:latin typeface="Georgia" pitchFamily="34" charset="0"/>
                <a:ea typeface="Georgia" pitchFamily="34" charset="-122"/>
                <a:cs typeface="Georgia" pitchFamily="34" charset="-120"/>
              </a:rPr>
              <a:t>3/</a:t>
            </a:r>
            <a:endParaRPr lang="en-US" sz="1300" dirty="0"/>
          </a:p>
        </p:txBody>
      </p:sp>
      <p:sp>
        <p:nvSpPr>
          <p:cNvPr id="12" name="Text 10"/>
          <p:cNvSpPr/>
          <p:nvPr/>
        </p:nvSpPr>
        <p:spPr>
          <a:xfrm>
            <a:off x="438912" y="3108960"/>
            <a:ext cx="3794760" cy="10972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No more buying a shirt that shrinks. No more ordering online and praying it fits. Try before you buy for your everyday wardrobe. Finally.</a:t>
            </a:r>
            <a:endParaRPr lang="en-US" sz="1150" dirty="0"/>
          </a:p>
        </p:txBody>
      </p:sp>
      <p:sp>
        <p:nvSpPr>
          <p:cNvPr id="13" name="Shape 11"/>
          <p:cNvSpPr/>
          <p:nvPr/>
        </p:nvSpPr>
        <p:spPr>
          <a:xfrm>
            <a:off x="4754880" y="2697480"/>
            <a:ext cx="4160520" cy="1600200"/>
          </a:xfrm>
          <a:prstGeom prst="rect">
            <a:avLst/>
          </a:prstGeom>
          <a:solidFill>
            <a:srgbClr val="1A2840"/>
          </a:solidFill>
          <a:ln w="12700">
            <a:solidFill>
              <a:srgbClr val="2A3850"/>
            </a:solidFill>
            <a:prstDash val="solid"/>
          </a:ln>
        </p:spPr>
      </p:sp>
      <p:sp>
        <p:nvSpPr>
          <p:cNvPr id="14" name="Text 12"/>
          <p:cNvSpPr/>
          <p:nvPr/>
        </p:nvSpPr>
        <p:spPr>
          <a:xfrm>
            <a:off x="4919472" y="2788920"/>
            <a:ext cx="502920" cy="365760"/>
          </a:xfrm>
          <a:prstGeom prst="rect">
            <a:avLst/>
          </a:prstGeom>
          <a:noFill/>
          <a:ln/>
        </p:spPr>
        <p:txBody>
          <a:bodyPr wrap="square" lIns="0" tIns="0" rIns="0" bIns="0" rtlCol="0" anchor="ctr"/>
          <a:lstStyle/>
          <a:p>
            <a:pPr indent="0" marL="0">
              <a:buNone/>
            </a:pPr>
            <a:r>
              <a:rPr lang="en-US" sz="1300" b="1" dirty="0">
                <a:solidFill>
                  <a:srgbClr val="C9A84C"/>
                </a:solidFill>
                <a:latin typeface="Georgia" pitchFamily="34" charset="0"/>
                <a:ea typeface="Georgia" pitchFamily="34" charset="-122"/>
                <a:cs typeface="Georgia" pitchFamily="34" charset="-120"/>
              </a:rPr>
              <a:t>4/</a:t>
            </a:r>
            <a:endParaRPr lang="en-US" sz="1300" dirty="0"/>
          </a:p>
        </p:txBody>
      </p:sp>
      <p:sp>
        <p:nvSpPr>
          <p:cNvPr id="15" name="Text 13"/>
          <p:cNvSpPr/>
          <p:nvPr/>
        </p:nvSpPr>
        <p:spPr>
          <a:xfrm>
            <a:off x="4919472" y="3108960"/>
            <a:ext cx="3794760" cy="10972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Subscribe by semester, season, or month. New pieces or gently used at a lower price. Launching soon, link in bio.</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E8E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340"/>
          </a:solidFill>
          <a:ln w="12700">
            <a:solidFill>
              <a:srgbClr val="1A2340"/>
            </a:solidFill>
            <a:prstDash val="solid"/>
          </a:ln>
        </p:spPr>
      </p:sp>
      <p:sp>
        <p:nvSpPr>
          <p:cNvPr id="3" name="Text 1"/>
          <p:cNvSpPr/>
          <p:nvPr/>
        </p:nvSpPr>
        <p:spPr>
          <a:xfrm>
            <a:off x="365760" y="0"/>
            <a:ext cx="8229600" cy="82296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COLD TEXT / iMESSAGE</a:t>
            </a:r>
            <a:endParaRPr lang="en-US" sz="1100" dirty="0"/>
          </a:p>
        </p:txBody>
      </p:sp>
      <p:sp>
        <p:nvSpPr>
          <p:cNvPr id="4" name="Shape 2"/>
          <p:cNvSpPr/>
          <p:nvPr/>
        </p:nvSpPr>
        <p:spPr>
          <a:xfrm>
            <a:off x="2926080" y="868680"/>
            <a:ext cx="3291840" cy="4023360"/>
          </a:xfrm>
          <a:prstGeom prst="roundRect">
            <a:avLst>
              <a:gd name="adj" fmla="val 6944"/>
            </a:avLst>
          </a:prstGeom>
          <a:solidFill>
            <a:srgbClr val="F8F8F8"/>
          </a:solidFill>
          <a:ln w="12700">
            <a:solidFill>
              <a:srgbClr val="AAAAAA"/>
            </a:solidFill>
            <a:prstDash val="solid"/>
          </a:ln>
        </p:spPr>
      </p:sp>
      <p:sp>
        <p:nvSpPr>
          <p:cNvPr id="5" name="Shape 3"/>
          <p:cNvSpPr/>
          <p:nvPr/>
        </p:nvSpPr>
        <p:spPr>
          <a:xfrm>
            <a:off x="2926080" y="868680"/>
            <a:ext cx="3291840" cy="502920"/>
          </a:xfrm>
          <a:prstGeom prst="rect">
            <a:avLst/>
          </a:prstGeom>
          <a:solidFill>
            <a:srgbClr val="F0F0F0"/>
          </a:solidFill>
          <a:ln w="12700">
            <a:solidFill>
              <a:srgbClr val="AAAAAA"/>
            </a:solidFill>
            <a:prstDash val="solid"/>
          </a:ln>
        </p:spPr>
      </p:sp>
      <p:sp>
        <p:nvSpPr>
          <p:cNvPr id="6" name="Text 4"/>
          <p:cNvSpPr/>
          <p:nvPr/>
        </p:nvSpPr>
        <p:spPr>
          <a:xfrm>
            <a:off x="2926080" y="868680"/>
            <a:ext cx="3291840" cy="502920"/>
          </a:xfrm>
          <a:prstGeom prst="rect">
            <a:avLst/>
          </a:prstGeom>
          <a:noFill/>
          <a:ln/>
        </p:spPr>
        <p:txBody>
          <a:bodyPr wrap="square" lIns="0" tIns="0" rIns="0" bIns="0" rtlCol="0" anchor="ctr"/>
          <a:lstStyle/>
          <a:p>
            <a:pPr algn="ctr" indent="0" marL="0">
              <a:buNone/>
            </a:pPr>
            <a:r>
              <a:rPr lang="en-US" sz="1100" b="1" dirty="0">
                <a:solidFill>
                  <a:srgbClr val="2E2E2E"/>
                </a:solidFill>
                <a:latin typeface="Calibri" pitchFamily="34" charset="0"/>
                <a:ea typeface="Calibri" pitchFamily="34" charset="-122"/>
                <a:cs typeface="Calibri" pitchFamily="34" charset="-120"/>
              </a:rPr>
              <a:t>Messages</a:t>
            </a:r>
            <a:endParaRPr lang="en-US" sz="1100" dirty="0"/>
          </a:p>
        </p:txBody>
      </p:sp>
      <p:sp>
        <p:nvSpPr>
          <p:cNvPr id="7" name="Shape 5"/>
          <p:cNvSpPr/>
          <p:nvPr/>
        </p:nvSpPr>
        <p:spPr>
          <a:xfrm>
            <a:off x="3337560" y="1508760"/>
            <a:ext cx="2514600" cy="1188720"/>
          </a:xfrm>
          <a:prstGeom prst="roundRect">
            <a:avLst>
              <a:gd name="adj" fmla="val 11538"/>
            </a:avLst>
          </a:prstGeom>
          <a:solidFill>
            <a:srgbClr val="34C759"/>
          </a:solidFill>
          <a:ln w="12700">
            <a:solidFill>
              <a:srgbClr val="34C759"/>
            </a:solidFill>
            <a:prstDash val="solid"/>
          </a:ln>
        </p:spPr>
      </p:sp>
      <p:sp>
        <p:nvSpPr>
          <p:cNvPr id="8" name="Text 6"/>
          <p:cNvSpPr/>
          <p:nvPr/>
        </p:nvSpPr>
        <p:spPr>
          <a:xfrm>
            <a:off x="3401568" y="1554480"/>
            <a:ext cx="2377440" cy="109728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Hey [Name], random DM but I'm building a clothing subscription for college guys and wanted to see if you'd be down to try an early box. Basically Netflix for your wardrobe. Interested?</a:t>
            </a:r>
            <a:endParaRPr lang="en-US" sz="950" dirty="0"/>
          </a:p>
        </p:txBody>
      </p:sp>
      <p:sp>
        <p:nvSpPr>
          <p:cNvPr id="9" name="Shape 7"/>
          <p:cNvSpPr/>
          <p:nvPr/>
        </p:nvSpPr>
        <p:spPr>
          <a:xfrm>
            <a:off x="3154680" y="2834640"/>
            <a:ext cx="2377440" cy="640080"/>
          </a:xfrm>
          <a:prstGeom prst="roundRect">
            <a:avLst>
              <a:gd name="adj" fmla="val 21429"/>
            </a:avLst>
          </a:prstGeom>
          <a:solidFill>
            <a:srgbClr val="FFFFFF"/>
          </a:solidFill>
          <a:ln w="12700">
            <a:solidFill>
              <a:srgbClr val="DDDDDD"/>
            </a:solidFill>
            <a:prstDash val="solid"/>
          </a:ln>
        </p:spPr>
      </p:sp>
      <p:sp>
        <p:nvSpPr>
          <p:cNvPr id="10" name="Text 8"/>
          <p:cNvSpPr/>
          <p:nvPr/>
        </p:nvSpPr>
        <p:spPr>
          <a:xfrm>
            <a:off x="3218688" y="2880360"/>
            <a:ext cx="2240280" cy="548640"/>
          </a:xfrm>
          <a:prstGeom prst="rect">
            <a:avLst/>
          </a:prstGeom>
          <a:noFill/>
          <a:ln/>
        </p:spPr>
        <p:txBody>
          <a:bodyPr wrap="square" lIns="0" tIns="0" rIns="0" bIns="0" rtlCol="0" anchor="ctr"/>
          <a:lstStyle/>
          <a:p>
            <a:pPr indent="0" marL="0">
              <a:buNone/>
            </a:pPr>
            <a:r>
              <a:rPr lang="en-US" sz="950" dirty="0">
                <a:solidFill>
                  <a:srgbClr val="2E2E2E"/>
                </a:solidFill>
                <a:latin typeface="Calibri" pitchFamily="34" charset="0"/>
                <a:ea typeface="Calibri" pitchFamily="34" charset="-122"/>
                <a:cs typeface="Calibri" pitchFamily="34" charset="-120"/>
              </a:rPr>
              <a:t>wait that actually sounds sick lol</a:t>
            </a:r>
            <a:endParaRPr lang="en-US" sz="950" dirty="0"/>
          </a:p>
        </p:txBody>
      </p:sp>
      <p:sp>
        <p:nvSpPr>
          <p:cNvPr id="11" name="Text 9"/>
          <p:cNvSpPr/>
          <p:nvPr/>
        </p:nvSpPr>
        <p:spPr>
          <a:xfrm>
            <a:off x="274320" y="4206240"/>
            <a:ext cx="8595360" cy="594360"/>
          </a:xfrm>
          <a:prstGeom prst="rect">
            <a:avLst/>
          </a:prstGeom>
          <a:noFill/>
          <a:ln/>
        </p:spPr>
        <p:txBody>
          <a:bodyPr wrap="square" lIns="0" tIns="0" rIns="0" bIns="0" rtlCol="0" anchor="ctr"/>
          <a:lstStyle/>
          <a:p>
            <a:pPr algn="ctr" indent="0" marL="0">
              <a:buNone/>
            </a:pPr>
            <a:r>
              <a:rPr lang="en-US" sz="1100" i="1" dirty="0">
                <a:solidFill>
                  <a:srgbClr val="666666"/>
                </a:solidFill>
                <a:latin typeface="Calibri" pitchFamily="34" charset="0"/>
                <a:ea typeface="Calibri" pitchFamily="34" charset="-122"/>
                <a:cs typeface="Calibri" pitchFamily="34" charset="-120"/>
              </a:rPr>
              <a:t>The goal: get them curious in one text. No pitch. No deck. Just a hook.</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340"/>
          </a:solidFill>
          <a:ln w="12700">
            <a:solidFill>
              <a:srgbClr val="1A2340"/>
            </a:solidFill>
            <a:prstDash val="solid"/>
          </a:ln>
        </p:spPr>
      </p:sp>
      <p:sp>
        <p:nvSpPr>
          <p:cNvPr id="3" name="Text 1"/>
          <p:cNvSpPr/>
          <p:nvPr/>
        </p:nvSpPr>
        <p:spPr>
          <a:xfrm>
            <a:off x="365760" y="0"/>
            <a:ext cx="8229600" cy="82296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ONE-LINERS   TAGLINES   BIO COPY</a:t>
            </a:r>
            <a:endParaRPr lang="en-US" sz="1100" dirty="0"/>
          </a:p>
        </p:txBody>
      </p:sp>
      <p:sp>
        <p:nvSpPr>
          <p:cNvPr id="4" name="Shape 2"/>
          <p:cNvSpPr/>
          <p:nvPr/>
        </p:nvSpPr>
        <p:spPr>
          <a:xfrm>
            <a:off x="274320" y="914400"/>
            <a:ext cx="4160520" cy="1234440"/>
          </a:xfrm>
          <a:prstGeom prst="rect">
            <a:avLst/>
          </a:prstGeom>
          <a:solidFill>
            <a:srgbClr val="FFFFFF"/>
          </a:solidFill>
          <a:ln w="12700">
            <a:solidFill>
              <a:srgbClr val="DDD6C8"/>
            </a:solidFill>
            <a:prstDash val="solid"/>
          </a:ln>
          <a:effectLst>
            <a:outerShdw sx="100000" sy="100000" kx="0" ky="0" algn="bl" rotWithShape="0" blurRad="101600" dist="25400" dir="8100000">
              <a:srgbClr val="000000">
                <a:alpha val="12000"/>
              </a:srgbClr>
            </a:outerShdw>
          </a:effectLst>
        </p:spPr>
      </p:sp>
      <p:sp>
        <p:nvSpPr>
          <p:cNvPr id="5" name="Shape 3"/>
          <p:cNvSpPr/>
          <p:nvPr/>
        </p:nvSpPr>
        <p:spPr>
          <a:xfrm>
            <a:off x="274320" y="914400"/>
            <a:ext cx="4160520" cy="274320"/>
          </a:xfrm>
          <a:prstGeom prst="rect">
            <a:avLst/>
          </a:prstGeom>
          <a:solidFill>
            <a:srgbClr val="1A2340"/>
          </a:solidFill>
          <a:ln w="12700">
            <a:solidFill>
              <a:srgbClr val="1A2340"/>
            </a:solidFill>
            <a:prstDash val="solid"/>
          </a:ln>
        </p:spPr>
      </p:sp>
      <p:sp>
        <p:nvSpPr>
          <p:cNvPr id="6" name="Text 4"/>
          <p:cNvSpPr/>
          <p:nvPr/>
        </p:nvSpPr>
        <p:spPr>
          <a:xfrm>
            <a:off x="384048" y="914400"/>
            <a:ext cx="3931920" cy="274320"/>
          </a:xfrm>
          <a:prstGeom prst="rect">
            <a:avLst/>
          </a:prstGeom>
          <a:noFill/>
          <a:ln/>
        </p:spPr>
        <p:txBody>
          <a:bodyPr wrap="square" lIns="0" tIns="0" rIns="0" bIns="0" rtlCol="0" anchor="ctr"/>
          <a:lstStyle/>
          <a:p>
            <a:pPr indent="0" marL="0">
              <a:buNone/>
            </a:pPr>
            <a:r>
              <a:rPr lang="en-US" sz="900" b="1" spc="100" kern="0" dirty="0">
                <a:solidFill>
                  <a:srgbClr val="C9A84C"/>
                </a:solidFill>
                <a:latin typeface="Calibri" pitchFamily="34" charset="0"/>
                <a:ea typeface="Calibri" pitchFamily="34" charset="-122"/>
                <a:cs typeface="Calibri" pitchFamily="34" charset="-120"/>
              </a:rPr>
              <a:t>Instagram Bio</a:t>
            </a:r>
            <a:endParaRPr lang="en-US" sz="900" dirty="0"/>
          </a:p>
        </p:txBody>
      </p:sp>
      <p:sp>
        <p:nvSpPr>
          <p:cNvPr id="7" name="Text 5"/>
          <p:cNvSpPr/>
          <p:nvPr/>
        </p:nvSpPr>
        <p:spPr>
          <a:xfrm>
            <a:off x="384048" y="1234440"/>
            <a:ext cx="3931920" cy="868680"/>
          </a:xfrm>
          <a:prstGeom prst="rect">
            <a:avLst/>
          </a:prstGeom>
          <a:noFill/>
          <a:ln/>
        </p:spPr>
        <p:txBody>
          <a:bodyPr wrap="square" lIns="0" tIns="0" rIns="0" bIns="0" rtlCol="0" anchor="t"/>
          <a:lstStyle/>
          <a:p>
            <a:pPr indent="0" marL="0">
              <a:buNone/>
            </a:pPr>
            <a:r>
              <a:rPr lang="en-US" sz="1050" dirty="0">
                <a:solidFill>
                  <a:srgbClr val="2E2E2E"/>
                </a:solidFill>
                <a:latin typeface="Calibri" pitchFamily="34" charset="0"/>
                <a:ea typeface="Calibri" pitchFamily="34" charset="-122"/>
                <a:cs typeface="Calibri" pitchFamily="34" charset="-120"/>
              </a:rPr>
              <a:t>Try premium clothes. Keep what you love. Built for college guys. Join the waitlist below.</a:t>
            </a:r>
            <a:endParaRPr lang="en-US" sz="1050" dirty="0"/>
          </a:p>
        </p:txBody>
      </p:sp>
      <p:sp>
        <p:nvSpPr>
          <p:cNvPr id="8" name="Shape 6"/>
          <p:cNvSpPr/>
          <p:nvPr/>
        </p:nvSpPr>
        <p:spPr>
          <a:xfrm>
            <a:off x="4709160" y="914400"/>
            <a:ext cx="4160520" cy="1234440"/>
          </a:xfrm>
          <a:prstGeom prst="rect">
            <a:avLst/>
          </a:prstGeom>
          <a:solidFill>
            <a:srgbClr val="FFFFFF"/>
          </a:solidFill>
          <a:ln w="12700">
            <a:solidFill>
              <a:srgbClr val="DDD6C8"/>
            </a:solidFill>
            <a:prstDash val="solid"/>
          </a:ln>
          <a:effectLst>
            <a:outerShdw sx="100000" sy="100000" kx="0" ky="0" algn="bl" rotWithShape="0" blurRad="101600" dist="25400" dir="8100000">
              <a:srgbClr val="000000">
                <a:alpha val="12000"/>
              </a:srgbClr>
            </a:outerShdw>
          </a:effectLst>
        </p:spPr>
      </p:sp>
      <p:sp>
        <p:nvSpPr>
          <p:cNvPr id="9" name="Shape 7"/>
          <p:cNvSpPr/>
          <p:nvPr/>
        </p:nvSpPr>
        <p:spPr>
          <a:xfrm>
            <a:off x="4709160" y="914400"/>
            <a:ext cx="4160520" cy="274320"/>
          </a:xfrm>
          <a:prstGeom prst="rect">
            <a:avLst/>
          </a:prstGeom>
          <a:solidFill>
            <a:srgbClr val="1A2340"/>
          </a:solidFill>
          <a:ln w="12700">
            <a:solidFill>
              <a:srgbClr val="1A2340"/>
            </a:solidFill>
            <a:prstDash val="solid"/>
          </a:ln>
        </p:spPr>
      </p:sp>
      <p:sp>
        <p:nvSpPr>
          <p:cNvPr id="10" name="Text 8"/>
          <p:cNvSpPr/>
          <p:nvPr/>
        </p:nvSpPr>
        <p:spPr>
          <a:xfrm>
            <a:off x="4818888" y="914400"/>
            <a:ext cx="3931920" cy="274320"/>
          </a:xfrm>
          <a:prstGeom prst="rect">
            <a:avLst/>
          </a:prstGeom>
          <a:noFill/>
          <a:ln/>
        </p:spPr>
        <p:txBody>
          <a:bodyPr wrap="square" lIns="0" tIns="0" rIns="0" bIns="0" rtlCol="0" anchor="ctr"/>
          <a:lstStyle/>
          <a:p>
            <a:pPr indent="0" marL="0">
              <a:buNone/>
            </a:pPr>
            <a:r>
              <a:rPr lang="en-US" sz="900" b="1" spc="100" kern="0" dirty="0">
                <a:solidFill>
                  <a:srgbClr val="C9A84C"/>
                </a:solidFill>
                <a:latin typeface="Calibri" pitchFamily="34" charset="0"/>
                <a:ea typeface="Calibri" pitchFamily="34" charset="-122"/>
                <a:cs typeface="Calibri" pitchFamily="34" charset="-120"/>
              </a:rPr>
              <a:t>Pitch Comp Hook</a:t>
            </a:r>
            <a:endParaRPr lang="en-US" sz="900" dirty="0"/>
          </a:p>
        </p:txBody>
      </p:sp>
      <p:sp>
        <p:nvSpPr>
          <p:cNvPr id="11" name="Text 9"/>
          <p:cNvSpPr/>
          <p:nvPr/>
        </p:nvSpPr>
        <p:spPr>
          <a:xfrm>
            <a:off x="4818888" y="1234440"/>
            <a:ext cx="3931920" cy="868680"/>
          </a:xfrm>
          <a:prstGeom prst="rect">
            <a:avLst/>
          </a:prstGeom>
          <a:noFill/>
          <a:ln/>
        </p:spPr>
        <p:txBody>
          <a:bodyPr wrap="square" lIns="0" tIns="0" rIns="0" bIns="0" rtlCol="0" anchor="t"/>
          <a:lstStyle/>
          <a:p>
            <a:pPr indent="0" marL="0">
              <a:buNone/>
            </a:pPr>
            <a:r>
              <a:rPr lang="en-US" sz="1050" dirty="0">
                <a:solidFill>
                  <a:srgbClr val="2E2E2E"/>
                </a:solidFill>
                <a:latin typeface="Calibri" pitchFamily="34" charset="0"/>
                <a:ea typeface="Calibri" pitchFamily="34" charset="-122"/>
                <a:cs typeface="Calibri" pitchFamily="34" charset="-120"/>
              </a:rPr>
              <a:t>College guys are spending money on clothes they hate. We give them a box of clothes they'll love and they don't have to keep a thing.</a:t>
            </a:r>
            <a:endParaRPr lang="en-US" sz="1050" dirty="0"/>
          </a:p>
        </p:txBody>
      </p:sp>
      <p:sp>
        <p:nvSpPr>
          <p:cNvPr id="12" name="Shape 10"/>
          <p:cNvSpPr/>
          <p:nvPr/>
        </p:nvSpPr>
        <p:spPr>
          <a:xfrm>
            <a:off x="274320" y="2240280"/>
            <a:ext cx="4160520" cy="1234440"/>
          </a:xfrm>
          <a:prstGeom prst="rect">
            <a:avLst/>
          </a:prstGeom>
          <a:solidFill>
            <a:srgbClr val="FFFFFF"/>
          </a:solidFill>
          <a:ln w="12700">
            <a:solidFill>
              <a:srgbClr val="DDD6C8"/>
            </a:solidFill>
            <a:prstDash val="solid"/>
          </a:ln>
          <a:effectLst>
            <a:outerShdw sx="100000" sy="100000" kx="0" ky="0" algn="bl" rotWithShape="0" blurRad="101600" dist="25400" dir="8100000">
              <a:srgbClr val="000000">
                <a:alpha val="12000"/>
              </a:srgbClr>
            </a:outerShdw>
          </a:effectLst>
        </p:spPr>
      </p:sp>
      <p:sp>
        <p:nvSpPr>
          <p:cNvPr id="13" name="Shape 11"/>
          <p:cNvSpPr/>
          <p:nvPr/>
        </p:nvSpPr>
        <p:spPr>
          <a:xfrm>
            <a:off x="274320" y="2240280"/>
            <a:ext cx="4160520" cy="274320"/>
          </a:xfrm>
          <a:prstGeom prst="rect">
            <a:avLst/>
          </a:prstGeom>
          <a:solidFill>
            <a:srgbClr val="1A2340"/>
          </a:solidFill>
          <a:ln w="12700">
            <a:solidFill>
              <a:srgbClr val="1A2340"/>
            </a:solidFill>
            <a:prstDash val="solid"/>
          </a:ln>
        </p:spPr>
      </p:sp>
      <p:sp>
        <p:nvSpPr>
          <p:cNvPr id="14" name="Text 12"/>
          <p:cNvSpPr/>
          <p:nvPr/>
        </p:nvSpPr>
        <p:spPr>
          <a:xfrm>
            <a:off x="384048" y="2240280"/>
            <a:ext cx="3931920" cy="274320"/>
          </a:xfrm>
          <a:prstGeom prst="rect">
            <a:avLst/>
          </a:prstGeom>
          <a:noFill/>
          <a:ln/>
        </p:spPr>
        <p:txBody>
          <a:bodyPr wrap="square" lIns="0" tIns="0" rIns="0" bIns="0" rtlCol="0" anchor="ctr"/>
          <a:lstStyle/>
          <a:p>
            <a:pPr indent="0" marL="0">
              <a:buNone/>
            </a:pPr>
            <a:r>
              <a:rPr lang="en-US" sz="900" b="1" spc="100" kern="0" dirty="0">
                <a:solidFill>
                  <a:srgbClr val="C9A84C"/>
                </a:solidFill>
                <a:latin typeface="Calibri" pitchFamily="34" charset="0"/>
                <a:ea typeface="Calibri" pitchFamily="34" charset="-122"/>
                <a:cs typeface="Calibri" pitchFamily="34" charset="-120"/>
              </a:rPr>
              <a:t>Website Subheadline</a:t>
            </a:r>
            <a:endParaRPr lang="en-US" sz="900" dirty="0"/>
          </a:p>
        </p:txBody>
      </p:sp>
      <p:sp>
        <p:nvSpPr>
          <p:cNvPr id="15" name="Text 13"/>
          <p:cNvSpPr/>
          <p:nvPr/>
        </p:nvSpPr>
        <p:spPr>
          <a:xfrm>
            <a:off x="384048" y="2560320"/>
            <a:ext cx="3931920" cy="868680"/>
          </a:xfrm>
          <a:prstGeom prst="rect">
            <a:avLst/>
          </a:prstGeom>
          <a:noFill/>
          <a:ln/>
        </p:spPr>
        <p:txBody>
          <a:bodyPr wrap="square" lIns="0" tIns="0" rIns="0" bIns="0" rtlCol="0" anchor="t"/>
          <a:lstStyle/>
          <a:p>
            <a:pPr indent="0" marL="0">
              <a:buNone/>
            </a:pPr>
            <a:r>
              <a:rPr lang="en-US" sz="1050" dirty="0">
                <a:solidFill>
                  <a:srgbClr val="2E2E2E"/>
                </a:solidFill>
                <a:latin typeface="Calibri" pitchFamily="34" charset="0"/>
                <a:ea typeface="Calibri" pitchFamily="34" charset="-122"/>
                <a:cs typeface="Calibri" pitchFamily="34" charset="-120"/>
              </a:rPr>
              <a:t>A curated wardrobe subscription for college men. Wear pieces from the brands you actually want. Pay only for what's in your Suitcase.</a:t>
            </a:r>
            <a:endParaRPr lang="en-US" sz="1050" dirty="0"/>
          </a:p>
        </p:txBody>
      </p:sp>
      <p:sp>
        <p:nvSpPr>
          <p:cNvPr id="16" name="Shape 14"/>
          <p:cNvSpPr/>
          <p:nvPr/>
        </p:nvSpPr>
        <p:spPr>
          <a:xfrm>
            <a:off x="4709160" y="2240280"/>
            <a:ext cx="4160520" cy="1234440"/>
          </a:xfrm>
          <a:prstGeom prst="rect">
            <a:avLst/>
          </a:prstGeom>
          <a:solidFill>
            <a:srgbClr val="FFFFFF"/>
          </a:solidFill>
          <a:ln w="12700">
            <a:solidFill>
              <a:srgbClr val="DDD6C8"/>
            </a:solidFill>
            <a:prstDash val="solid"/>
          </a:ln>
          <a:effectLst>
            <a:outerShdw sx="100000" sy="100000" kx="0" ky="0" algn="bl" rotWithShape="0" blurRad="101600" dist="25400" dir="8100000">
              <a:srgbClr val="000000">
                <a:alpha val="12000"/>
              </a:srgbClr>
            </a:outerShdw>
          </a:effectLst>
        </p:spPr>
      </p:sp>
      <p:sp>
        <p:nvSpPr>
          <p:cNvPr id="17" name="Shape 15"/>
          <p:cNvSpPr/>
          <p:nvPr/>
        </p:nvSpPr>
        <p:spPr>
          <a:xfrm>
            <a:off x="4709160" y="2240280"/>
            <a:ext cx="4160520" cy="274320"/>
          </a:xfrm>
          <a:prstGeom prst="rect">
            <a:avLst/>
          </a:prstGeom>
          <a:solidFill>
            <a:srgbClr val="1A2340"/>
          </a:solidFill>
          <a:ln w="12700">
            <a:solidFill>
              <a:srgbClr val="1A2340"/>
            </a:solidFill>
            <a:prstDash val="solid"/>
          </a:ln>
        </p:spPr>
      </p:sp>
      <p:sp>
        <p:nvSpPr>
          <p:cNvPr id="18" name="Text 16"/>
          <p:cNvSpPr/>
          <p:nvPr/>
        </p:nvSpPr>
        <p:spPr>
          <a:xfrm>
            <a:off x="4818888" y="2240280"/>
            <a:ext cx="3931920" cy="274320"/>
          </a:xfrm>
          <a:prstGeom prst="rect">
            <a:avLst/>
          </a:prstGeom>
          <a:noFill/>
          <a:ln/>
        </p:spPr>
        <p:txBody>
          <a:bodyPr wrap="square" lIns="0" tIns="0" rIns="0" bIns="0" rtlCol="0" anchor="ctr"/>
          <a:lstStyle/>
          <a:p>
            <a:pPr indent="0" marL="0">
              <a:buNone/>
            </a:pPr>
            <a:r>
              <a:rPr lang="en-US" sz="900" b="1" spc="100" kern="0" dirty="0">
                <a:solidFill>
                  <a:srgbClr val="C9A84C"/>
                </a:solidFill>
                <a:latin typeface="Calibri" pitchFamily="34" charset="0"/>
                <a:ea typeface="Calibri" pitchFamily="34" charset="-122"/>
                <a:cs typeface="Calibri" pitchFamily="34" charset="-120"/>
              </a:rPr>
              <a:t>Investor One-Liner</a:t>
            </a:r>
            <a:endParaRPr lang="en-US" sz="900" dirty="0"/>
          </a:p>
        </p:txBody>
      </p:sp>
      <p:sp>
        <p:nvSpPr>
          <p:cNvPr id="19" name="Text 17"/>
          <p:cNvSpPr/>
          <p:nvPr/>
        </p:nvSpPr>
        <p:spPr>
          <a:xfrm>
            <a:off x="4818888" y="2560320"/>
            <a:ext cx="3931920" cy="868680"/>
          </a:xfrm>
          <a:prstGeom prst="rect">
            <a:avLst/>
          </a:prstGeom>
          <a:noFill/>
          <a:ln/>
        </p:spPr>
        <p:txBody>
          <a:bodyPr wrap="square" lIns="0" tIns="0" rIns="0" bIns="0" rtlCol="0" anchor="t"/>
          <a:lstStyle/>
          <a:p>
            <a:pPr indent="0" marL="0">
              <a:buNone/>
            </a:pPr>
            <a:r>
              <a:rPr lang="en-US" sz="1050" dirty="0">
                <a:solidFill>
                  <a:srgbClr val="2E2E2E"/>
                </a:solidFill>
                <a:latin typeface="Calibri" pitchFamily="34" charset="0"/>
                <a:ea typeface="Calibri" pitchFamily="34" charset="-122"/>
                <a:cs typeface="Calibri" pitchFamily="34" charset="-120"/>
              </a:rPr>
              <a:t>Davenport is a try-before-you-buy wardrobe subscription targeting 8M+ college men, a demographic completely ignored by existing rental services.</a:t>
            </a:r>
            <a:endParaRPr lang="en-US" sz="1050" dirty="0"/>
          </a:p>
        </p:txBody>
      </p:sp>
      <p:sp>
        <p:nvSpPr>
          <p:cNvPr id="20" name="Shape 18"/>
          <p:cNvSpPr/>
          <p:nvPr/>
        </p:nvSpPr>
        <p:spPr>
          <a:xfrm>
            <a:off x="274320" y="3566160"/>
            <a:ext cx="4160520" cy="1234440"/>
          </a:xfrm>
          <a:prstGeom prst="rect">
            <a:avLst/>
          </a:prstGeom>
          <a:solidFill>
            <a:srgbClr val="FFFFFF"/>
          </a:solidFill>
          <a:ln w="12700">
            <a:solidFill>
              <a:srgbClr val="DDD6C8"/>
            </a:solidFill>
            <a:prstDash val="solid"/>
          </a:ln>
          <a:effectLst>
            <a:outerShdw sx="100000" sy="100000" kx="0" ky="0" algn="bl" rotWithShape="0" blurRad="101600" dist="25400" dir="8100000">
              <a:srgbClr val="000000">
                <a:alpha val="12000"/>
              </a:srgbClr>
            </a:outerShdw>
          </a:effectLst>
        </p:spPr>
      </p:sp>
      <p:sp>
        <p:nvSpPr>
          <p:cNvPr id="21" name="Shape 19"/>
          <p:cNvSpPr/>
          <p:nvPr/>
        </p:nvSpPr>
        <p:spPr>
          <a:xfrm>
            <a:off x="274320" y="3566160"/>
            <a:ext cx="4160520" cy="274320"/>
          </a:xfrm>
          <a:prstGeom prst="rect">
            <a:avLst/>
          </a:prstGeom>
          <a:solidFill>
            <a:srgbClr val="1A2340"/>
          </a:solidFill>
          <a:ln w="12700">
            <a:solidFill>
              <a:srgbClr val="1A2340"/>
            </a:solidFill>
            <a:prstDash val="solid"/>
          </a:ln>
        </p:spPr>
      </p:sp>
      <p:sp>
        <p:nvSpPr>
          <p:cNvPr id="22" name="Text 20"/>
          <p:cNvSpPr/>
          <p:nvPr/>
        </p:nvSpPr>
        <p:spPr>
          <a:xfrm>
            <a:off x="384048" y="3566160"/>
            <a:ext cx="3931920" cy="274320"/>
          </a:xfrm>
          <a:prstGeom prst="rect">
            <a:avLst/>
          </a:prstGeom>
          <a:noFill/>
          <a:ln/>
        </p:spPr>
        <p:txBody>
          <a:bodyPr wrap="square" lIns="0" tIns="0" rIns="0" bIns="0" rtlCol="0" anchor="ctr"/>
          <a:lstStyle/>
          <a:p>
            <a:pPr indent="0" marL="0">
              <a:buNone/>
            </a:pPr>
            <a:r>
              <a:rPr lang="en-US" sz="900" b="1" spc="100" kern="0" dirty="0">
                <a:solidFill>
                  <a:srgbClr val="C9A84C"/>
                </a:solidFill>
                <a:latin typeface="Calibri" pitchFamily="34" charset="0"/>
                <a:ea typeface="Calibri" pitchFamily="34" charset="-122"/>
                <a:cs typeface="Calibri" pitchFamily="34" charset="-120"/>
              </a:rPr>
              <a:t>App Store Description</a:t>
            </a:r>
            <a:endParaRPr lang="en-US" sz="900" dirty="0"/>
          </a:p>
        </p:txBody>
      </p:sp>
      <p:sp>
        <p:nvSpPr>
          <p:cNvPr id="23" name="Text 21"/>
          <p:cNvSpPr/>
          <p:nvPr/>
        </p:nvSpPr>
        <p:spPr>
          <a:xfrm>
            <a:off x="384048" y="3886200"/>
            <a:ext cx="3931920" cy="868680"/>
          </a:xfrm>
          <a:prstGeom prst="rect">
            <a:avLst/>
          </a:prstGeom>
          <a:noFill/>
          <a:ln/>
        </p:spPr>
        <p:txBody>
          <a:bodyPr wrap="square" lIns="0" tIns="0" rIns="0" bIns="0" rtlCol="0" anchor="t"/>
          <a:lstStyle/>
          <a:p>
            <a:pPr indent="0" marL="0">
              <a:buNone/>
            </a:pPr>
            <a:r>
              <a:rPr lang="en-US" sz="1050" dirty="0">
                <a:solidFill>
                  <a:srgbClr val="2E2E2E"/>
                </a:solidFill>
                <a:latin typeface="Calibri" pitchFamily="34" charset="0"/>
                <a:ea typeface="Calibri" pitchFamily="34" charset="-122"/>
                <a:cs typeface="Calibri" pitchFamily="34" charset="-120"/>
              </a:rPr>
              <a:t>Build your Suitcase, get a box, wear everything for a month. Keep the keepers. Send back the rest. Davenport makes dressing well effortless.</a:t>
            </a:r>
            <a:endParaRPr lang="en-US" sz="1050" dirty="0"/>
          </a:p>
        </p:txBody>
      </p:sp>
      <p:sp>
        <p:nvSpPr>
          <p:cNvPr id="24" name="Shape 22"/>
          <p:cNvSpPr/>
          <p:nvPr/>
        </p:nvSpPr>
        <p:spPr>
          <a:xfrm>
            <a:off x="4709160" y="3566160"/>
            <a:ext cx="4160520" cy="1234440"/>
          </a:xfrm>
          <a:prstGeom prst="rect">
            <a:avLst/>
          </a:prstGeom>
          <a:solidFill>
            <a:srgbClr val="FFFFFF"/>
          </a:solidFill>
          <a:ln w="12700">
            <a:solidFill>
              <a:srgbClr val="DDD6C8"/>
            </a:solidFill>
            <a:prstDash val="solid"/>
          </a:ln>
          <a:effectLst>
            <a:outerShdw sx="100000" sy="100000" kx="0" ky="0" algn="bl" rotWithShape="0" blurRad="101600" dist="25400" dir="8100000">
              <a:srgbClr val="000000">
                <a:alpha val="12000"/>
              </a:srgbClr>
            </a:outerShdw>
          </a:effectLst>
        </p:spPr>
      </p:sp>
      <p:sp>
        <p:nvSpPr>
          <p:cNvPr id="25" name="Shape 23"/>
          <p:cNvSpPr/>
          <p:nvPr/>
        </p:nvSpPr>
        <p:spPr>
          <a:xfrm>
            <a:off x="4709160" y="3566160"/>
            <a:ext cx="4160520" cy="274320"/>
          </a:xfrm>
          <a:prstGeom prst="rect">
            <a:avLst/>
          </a:prstGeom>
          <a:solidFill>
            <a:srgbClr val="1A2340"/>
          </a:solidFill>
          <a:ln w="12700">
            <a:solidFill>
              <a:srgbClr val="1A2340"/>
            </a:solidFill>
            <a:prstDash val="solid"/>
          </a:ln>
        </p:spPr>
      </p:sp>
      <p:sp>
        <p:nvSpPr>
          <p:cNvPr id="26" name="Text 24"/>
          <p:cNvSpPr/>
          <p:nvPr/>
        </p:nvSpPr>
        <p:spPr>
          <a:xfrm>
            <a:off x="4818888" y="3566160"/>
            <a:ext cx="3931920" cy="274320"/>
          </a:xfrm>
          <a:prstGeom prst="rect">
            <a:avLst/>
          </a:prstGeom>
          <a:noFill/>
          <a:ln/>
        </p:spPr>
        <p:txBody>
          <a:bodyPr wrap="square" lIns="0" tIns="0" rIns="0" bIns="0" rtlCol="0" anchor="ctr"/>
          <a:lstStyle/>
          <a:p>
            <a:pPr indent="0" marL="0">
              <a:buNone/>
            </a:pPr>
            <a:r>
              <a:rPr lang="en-US" sz="900" b="1" spc="100" kern="0" dirty="0">
                <a:solidFill>
                  <a:srgbClr val="C9A84C"/>
                </a:solidFill>
                <a:latin typeface="Calibri" pitchFamily="34" charset="0"/>
                <a:ea typeface="Calibri" pitchFamily="34" charset="-122"/>
                <a:cs typeface="Calibri" pitchFamily="34" charset="-120"/>
              </a:rPr>
              <a:t>TikTok Caption</a:t>
            </a:r>
            <a:endParaRPr lang="en-US" sz="900" dirty="0"/>
          </a:p>
        </p:txBody>
      </p:sp>
      <p:sp>
        <p:nvSpPr>
          <p:cNvPr id="27" name="Text 25"/>
          <p:cNvSpPr/>
          <p:nvPr/>
        </p:nvSpPr>
        <p:spPr>
          <a:xfrm>
            <a:off x="4818888" y="3886200"/>
            <a:ext cx="3931920" cy="868680"/>
          </a:xfrm>
          <a:prstGeom prst="rect">
            <a:avLst/>
          </a:prstGeom>
          <a:noFill/>
          <a:ln/>
        </p:spPr>
        <p:txBody>
          <a:bodyPr wrap="square" lIns="0" tIns="0" rIns="0" bIns="0" rtlCol="0" anchor="t"/>
          <a:lstStyle/>
          <a:p>
            <a:pPr indent="0" marL="0">
              <a:buNone/>
            </a:pPr>
            <a:r>
              <a:rPr lang="en-US" sz="1050" dirty="0">
                <a:solidFill>
                  <a:srgbClr val="2E2E2E"/>
                </a:solidFill>
                <a:latin typeface="Calibri" pitchFamily="34" charset="0"/>
                <a:ea typeface="Calibri" pitchFamily="34" charset="-122"/>
                <a:cs typeface="Calibri" pitchFamily="34" charset="-120"/>
              </a:rPr>
              <a:t>POV: You just got a box of Vuori, Levi's, and Rhone delivered to your dorm and you didn't pay full price for any of it. #davenport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340"/>
          </a:solidFill>
          <a:ln w="12700">
            <a:solidFill>
              <a:srgbClr val="1A2340"/>
            </a:solidFill>
            <a:prstDash val="solid"/>
          </a:ln>
        </p:spPr>
      </p:sp>
      <p:sp>
        <p:nvSpPr>
          <p:cNvPr id="3" name="Text 1"/>
          <p:cNvSpPr/>
          <p:nvPr/>
        </p:nvSpPr>
        <p:spPr>
          <a:xfrm>
            <a:off x="365760" y="0"/>
            <a:ext cx="8229600" cy="82296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CAMPUS PEER DM   ORGANIC GROWTH</a:t>
            </a:r>
            <a:endParaRPr lang="en-US" sz="1100" dirty="0"/>
          </a:p>
        </p:txBody>
      </p:sp>
      <p:sp>
        <p:nvSpPr>
          <p:cNvPr id="4" name="Text 2"/>
          <p:cNvSpPr/>
          <p:nvPr/>
        </p:nvSpPr>
        <p:spPr>
          <a:xfrm>
            <a:off x="365760" y="868680"/>
            <a:ext cx="8412480" cy="320040"/>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For reaching out to students at other schools, testers, beta users, and campus reps</a:t>
            </a:r>
            <a:endParaRPr lang="en-US" sz="1000" dirty="0"/>
          </a:p>
        </p:txBody>
      </p:sp>
      <p:sp>
        <p:nvSpPr>
          <p:cNvPr id="5" name="Shape 3"/>
          <p:cNvSpPr/>
          <p:nvPr/>
        </p:nvSpPr>
        <p:spPr>
          <a:xfrm>
            <a:off x="365760" y="1325880"/>
            <a:ext cx="8412480" cy="1600200"/>
          </a:xfrm>
          <a:prstGeom prst="rect">
            <a:avLst/>
          </a:prstGeom>
          <a:solidFill>
            <a:srgbClr val="FFFFFF"/>
          </a:solidFill>
          <a:ln w="12700">
            <a:solidFill>
              <a:srgbClr val="DDD6C8"/>
            </a:solidFill>
            <a:prstDash val="solid"/>
          </a:ln>
          <a:effectLst>
            <a:outerShdw sx="100000" sy="100000" kx="0" ky="0" algn="bl" rotWithShape="0" blurRad="101600" dist="25400" dir="8100000">
              <a:srgbClr val="000000">
                <a:alpha val="12000"/>
              </a:srgbClr>
            </a:outerShdw>
          </a:effectLst>
        </p:spPr>
      </p:sp>
      <p:sp>
        <p:nvSpPr>
          <p:cNvPr id="6" name="Shape 4"/>
          <p:cNvSpPr/>
          <p:nvPr/>
        </p:nvSpPr>
        <p:spPr>
          <a:xfrm>
            <a:off x="365760" y="1325880"/>
            <a:ext cx="64008" cy="1600200"/>
          </a:xfrm>
          <a:prstGeom prst="rect">
            <a:avLst/>
          </a:prstGeom>
          <a:solidFill>
            <a:srgbClr val="C9A84C"/>
          </a:solidFill>
          <a:ln w="12700">
            <a:solidFill>
              <a:srgbClr val="C9A84C"/>
            </a:solidFill>
            <a:prstDash val="solid"/>
          </a:ln>
        </p:spPr>
      </p:sp>
      <p:sp>
        <p:nvSpPr>
          <p:cNvPr id="7" name="Text 5"/>
          <p:cNvSpPr/>
          <p:nvPr/>
        </p:nvSpPr>
        <p:spPr>
          <a:xfrm>
            <a:off x="594360" y="1417320"/>
            <a:ext cx="7955280" cy="274320"/>
          </a:xfrm>
          <a:prstGeom prst="rect">
            <a:avLst/>
          </a:prstGeom>
          <a:noFill/>
          <a:ln/>
        </p:spPr>
        <p:txBody>
          <a:bodyPr wrap="square" lIns="0" tIns="0" rIns="0" bIns="0" rtlCol="0" anchor="ctr"/>
          <a:lstStyle/>
          <a:p>
            <a:pPr indent="0" marL="0">
              <a:buNone/>
            </a:pPr>
            <a:r>
              <a:rPr lang="en-US" sz="1000" b="1" spc="100" kern="0" dirty="0">
                <a:solidFill>
                  <a:srgbClr val="1A2340"/>
                </a:solidFill>
                <a:latin typeface="Calibri" pitchFamily="34" charset="0"/>
                <a:ea typeface="Calibri" pitchFamily="34" charset="-122"/>
                <a:cs typeface="Calibri" pitchFamily="34" charset="-120"/>
              </a:rPr>
              <a:t>Version A   Casual / Direct</a:t>
            </a:r>
            <a:endParaRPr lang="en-US" sz="1000" dirty="0"/>
          </a:p>
        </p:txBody>
      </p:sp>
      <p:sp>
        <p:nvSpPr>
          <p:cNvPr id="8" name="Text 6"/>
          <p:cNvSpPr/>
          <p:nvPr/>
        </p:nvSpPr>
        <p:spPr>
          <a:xfrm>
            <a:off x="594360" y="1737360"/>
            <a:ext cx="7955280" cy="1097280"/>
          </a:xfrm>
          <a:prstGeom prst="rect">
            <a:avLst/>
          </a:prstGeom>
          <a:noFill/>
          <a:ln/>
        </p:spPr>
        <p:txBody>
          <a:bodyPr wrap="square" lIns="0" tIns="0" rIns="0" bIns="0" rtlCol="0" anchor="t"/>
          <a:lstStyle/>
          <a:p>
            <a:pPr indent="0" marL="0">
              <a:buNone/>
            </a:pPr>
            <a:r>
              <a:rPr lang="en-US" sz="1150" dirty="0">
                <a:solidFill>
                  <a:srgbClr val="2E2E2E"/>
                </a:solidFill>
                <a:latin typeface="Calibri" pitchFamily="34" charset="0"/>
                <a:ea typeface="Calibri" pitchFamily="34" charset="-122"/>
                <a:cs typeface="Calibri" pitchFamily="34" charset="-120"/>
              </a:rPr>
              <a:t>Hey, random but I saw your fits on here and wanted to reach out. I'm a college student building a clothing subscription and I'm looking for guys to test out the first boxes before we launch. Basically you'd get a curated box from brands like Levi's, Vuori, or Rhone, wear everything for a month, and keep what you want. Down to be one of the first?</a:t>
            </a:r>
            <a:endParaRPr lang="en-US" sz="1150" dirty="0"/>
          </a:p>
        </p:txBody>
      </p:sp>
      <p:sp>
        <p:nvSpPr>
          <p:cNvPr id="9" name="Shape 7"/>
          <p:cNvSpPr/>
          <p:nvPr/>
        </p:nvSpPr>
        <p:spPr>
          <a:xfrm>
            <a:off x="365760" y="3063240"/>
            <a:ext cx="8412480" cy="1600200"/>
          </a:xfrm>
          <a:prstGeom prst="rect">
            <a:avLst/>
          </a:prstGeom>
          <a:solidFill>
            <a:srgbClr val="FFFFFF"/>
          </a:solidFill>
          <a:ln w="12700">
            <a:solidFill>
              <a:srgbClr val="DDD6C8"/>
            </a:solidFill>
            <a:prstDash val="solid"/>
          </a:ln>
          <a:effectLst>
            <a:outerShdw sx="100000" sy="100000" kx="0" ky="0" algn="bl" rotWithShape="0" blurRad="101600" dist="25400" dir="8100000">
              <a:srgbClr val="000000">
                <a:alpha val="12000"/>
              </a:srgbClr>
            </a:outerShdw>
          </a:effectLst>
        </p:spPr>
      </p:sp>
      <p:sp>
        <p:nvSpPr>
          <p:cNvPr id="10" name="Shape 8"/>
          <p:cNvSpPr/>
          <p:nvPr/>
        </p:nvSpPr>
        <p:spPr>
          <a:xfrm>
            <a:off x="365760" y="3063240"/>
            <a:ext cx="64008" cy="1600200"/>
          </a:xfrm>
          <a:prstGeom prst="rect">
            <a:avLst/>
          </a:prstGeom>
          <a:solidFill>
            <a:srgbClr val="C9A84C"/>
          </a:solidFill>
          <a:ln w="12700">
            <a:solidFill>
              <a:srgbClr val="C9A84C"/>
            </a:solidFill>
            <a:prstDash val="solid"/>
          </a:ln>
        </p:spPr>
      </p:sp>
      <p:sp>
        <p:nvSpPr>
          <p:cNvPr id="11" name="Text 9"/>
          <p:cNvSpPr/>
          <p:nvPr/>
        </p:nvSpPr>
        <p:spPr>
          <a:xfrm>
            <a:off x="594360" y="3154680"/>
            <a:ext cx="7955280" cy="274320"/>
          </a:xfrm>
          <a:prstGeom prst="rect">
            <a:avLst/>
          </a:prstGeom>
          <a:noFill/>
          <a:ln/>
        </p:spPr>
        <p:txBody>
          <a:bodyPr wrap="square" lIns="0" tIns="0" rIns="0" bIns="0" rtlCol="0" anchor="ctr"/>
          <a:lstStyle/>
          <a:p>
            <a:pPr indent="0" marL="0">
              <a:buNone/>
            </a:pPr>
            <a:r>
              <a:rPr lang="en-US" sz="1000" b="1" spc="100" kern="0" dirty="0">
                <a:solidFill>
                  <a:srgbClr val="1A2340"/>
                </a:solidFill>
                <a:latin typeface="Calibri" pitchFamily="34" charset="0"/>
                <a:ea typeface="Calibri" pitchFamily="34" charset="-122"/>
                <a:cs typeface="Calibri" pitchFamily="34" charset="-120"/>
              </a:rPr>
              <a:t>Version B   Campus Rep Angle</a:t>
            </a:r>
            <a:endParaRPr lang="en-US" sz="1000" dirty="0"/>
          </a:p>
        </p:txBody>
      </p:sp>
      <p:sp>
        <p:nvSpPr>
          <p:cNvPr id="12" name="Text 10"/>
          <p:cNvSpPr/>
          <p:nvPr/>
        </p:nvSpPr>
        <p:spPr>
          <a:xfrm>
            <a:off x="594360" y="3474720"/>
            <a:ext cx="7955280" cy="1097280"/>
          </a:xfrm>
          <a:prstGeom prst="rect">
            <a:avLst/>
          </a:prstGeom>
          <a:noFill/>
          <a:ln/>
        </p:spPr>
        <p:txBody>
          <a:bodyPr wrap="square" lIns="0" tIns="0" rIns="0" bIns="0" rtlCol="0" anchor="t"/>
          <a:lstStyle/>
          <a:p>
            <a:pPr indent="0" marL="0">
              <a:buNone/>
            </a:pPr>
            <a:r>
              <a:rPr lang="en-US" sz="1150" dirty="0">
                <a:solidFill>
                  <a:srgbClr val="2E2E2E"/>
                </a:solidFill>
                <a:latin typeface="Calibri" pitchFamily="34" charset="0"/>
                <a:ea typeface="Calibri" pitchFamily="34" charset="-122"/>
                <a:cs typeface="Calibri" pitchFamily="34" charset="-120"/>
              </a:rPr>
              <a:t>Hey [Name], I'm building a wardrobe subscription for college guys and looking for campus reps to help launch at [their school]. You'd get a free or discounted box, share it with your following, and help us grow. It's a try-before-you-buy model so guys keep what they love and send back the rest. Interested in talking more?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Davenport Wardrobe Pitches</dc:title>
  <dc:subject>PptxGenJS Presentation</dc:subject>
  <dc:creator>PptxGenJS</dc:creator>
  <cp:lastModifiedBy>PptxGenJS</cp:lastModifiedBy>
  <cp:revision>1</cp:revision>
  <dcterms:created xsi:type="dcterms:W3CDTF">2026-03-18T20:15:16Z</dcterms:created>
  <dcterms:modified xsi:type="dcterms:W3CDTF">2026-03-18T20:15:16Z</dcterms:modified>
</cp:coreProperties>
</file>