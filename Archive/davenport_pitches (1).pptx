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9A84C"/>
          </a:solidFill>
          <a:ln w="12700">
            <a:solidFill>
              <a:srgbClr val="C9A84C"/>
            </a:solidFill>
            <a:prstDash val="solid"/>
          </a:ln>
        </p:spPr>
      </p:sp>
      <p:sp>
        <p:nvSpPr>
          <p:cNvPr id="3" name="Text 1"/>
          <p:cNvSpPr/>
          <p:nvPr/>
        </p:nvSpPr>
        <p:spPr>
          <a:xfrm>
            <a:off x="5303520" y="-365760"/>
            <a:ext cx="4572000" cy="5669280"/>
          </a:xfrm>
          <a:prstGeom prst="rect">
            <a:avLst/>
          </a:prstGeom>
          <a:noFill/>
          <a:ln/>
        </p:spPr>
        <p:txBody>
          <a:bodyPr wrap="square" rtlCol="0" anchor="t"/>
          <a:lstStyle/>
          <a:p>
            <a:pPr algn="l" indent="0" marL="0">
              <a:buNone/>
            </a:pPr>
            <a:r>
              <a:rPr lang="en-US" sz="32000" b="1" dirty="0">
                <a:solidFill>
                  <a:srgbClr val="3D4F6B">
                    <a:alpha val="18000"/>
                  </a:srgbClr>
                </a:solidFill>
              </a:rPr>
              <a:t>D</a:t>
            </a:r>
            <a:endParaRPr lang="en-US" sz="32000" dirty="0"/>
          </a:p>
        </p:txBody>
      </p:sp>
      <p:sp>
        <p:nvSpPr>
          <p:cNvPr id="4" name="Text 2"/>
          <p:cNvSpPr/>
          <p:nvPr/>
        </p:nvSpPr>
        <p:spPr>
          <a:xfrm>
            <a:off x="640080" y="1005840"/>
            <a:ext cx="7772400" cy="502920"/>
          </a:xfrm>
          <a:prstGeom prst="rect">
            <a:avLst/>
          </a:prstGeom>
          <a:noFill/>
          <a:ln/>
        </p:spPr>
        <p:txBody>
          <a:bodyPr wrap="square" lIns="0" tIns="0" rIns="0" bIns="0" rtlCol="0" anchor="ctr"/>
          <a:lstStyle/>
          <a:p>
            <a:pPr algn="l" indent="0" marL="0">
              <a:buNone/>
            </a:pPr>
            <a:r>
              <a:rPr lang="en-US" sz="1300" b="1" spc="500" kern="0" dirty="0">
                <a:solidFill>
                  <a:srgbClr val="C9A84C"/>
                </a:solidFill>
              </a:rPr>
              <a:t>DAVENPORT WARDROBE</a:t>
            </a:r>
            <a:endParaRPr lang="en-US" sz="1300" dirty="0"/>
          </a:p>
        </p:txBody>
      </p:sp>
      <p:sp>
        <p:nvSpPr>
          <p:cNvPr id="5" name="Text 3"/>
          <p:cNvSpPr/>
          <p:nvPr/>
        </p:nvSpPr>
        <p:spPr>
          <a:xfrm>
            <a:off x="640080" y="1600200"/>
            <a:ext cx="6858000" cy="1920240"/>
          </a:xfrm>
          <a:prstGeom prst="rect">
            <a:avLst/>
          </a:prstGeom>
          <a:noFill/>
          <a:ln/>
        </p:spPr>
        <p:txBody>
          <a:bodyPr wrap="square" lIns="0" tIns="0" rIns="0" bIns="0" rtlCol="0" anchor="t"/>
          <a:lstStyle/>
          <a:p>
            <a:pPr algn="l" indent="0" marL="0">
              <a:buNone/>
            </a:pPr>
            <a:r>
              <a:rPr lang="en-US" sz="5200" b="1" dirty="0">
                <a:solidFill>
                  <a:srgbClr val="FFFFFF"/>
                </a:solidFill>
              </a:rPr>
              <a:t>A smarter way</a:t>
            </a:r>
            <a:endParaRPr lang="en-US" sz="5200" dirty="0"/>
          </a:p>
          <a:p>
            <a:pPr algn="l" indent="0" marL="0">
              <a:buNone/>
            </a:pPr>
            <a:r>
              <a:rPr lang="en-US" sz="5200" b="1" dirty="0">
                <a:solidFill>
                  <a:srgbClr val="FFFFFF"/>
                </a:solidFill>
              </a:rPr>
              <a:t>for men to dress.</a:t>
            </a:r>
            <a:endParaRPr lang="en-US" sz="5200" dirty="0"/>
          </a:p>
        </p:txBody>
      </p:sp>
      <p:sp>
        <p:nvSpPr>
          <p:cNvPr id="6" name="Text 4"/>
          <p:cNvSpPr/>
          <p:nvPr/>
        </p:nvSpPr>
        <p:spPr>
          <a:xfrm>
            <a:off x="640080" y="3429000"/>
            <a:ext cx="6400800" cy="914400"/>
          </a:xfrm>
          <a:prstGeom prst="rect">
            <a:avLst/>
          </a:prstGeom>
          <a:noFill/>
          <a:ln/>
        </p:spPr>
        <p:txBody>
          <a:bodyPr wrap="square" lIns="0" tIns="0" rIns="0" bIns="0" rtlCol="0" anchor="ctr"/>
          <a:lstStyle/>
          <a:p>
            <a:pPr algn="l" indent="0" marL="0">
              <a:buNone/>
            </a:pPr>
            <a:r>
              <a:rPr lang="en-US" sz="1600" dirty="0">
                <a:solidFill>
                  <a:srgbClr val="8A9BBB"/>
                </a:solidFill>
              </a:rPr>
              <a:t>Curated wardrobe subscriptions for college men.</a:t>
            </a:r>
            <a:endParaRPr lang="en-US" sz="1600" dirty="0"/>
          </a:p>
          <a:p>
            <a:pPr algn="l" indent="0" marL="0">
              <a:buNone/>
            </a:pPr>
            <a:r>
              <a:rPr lang="en-US" sz="1600" dirty="0">
                <a:solidFill>
                  <a:srgbClr val="8A9BBB"/>
                </a:solidFill>
              </a:rPr>
              <a:t>Discover. Wear. Own.</a:t>
            </a:r>
            <a:endParaRPr lang="en-US" sz="1600" dirty="0"/>
          </a:p>
        </p:txBody>
      </p:sp>
      <p:sp>
        <p:nvSpPr>
          <p:cNvPr id="7" name="Shape 5"/>
          <p:cNvSpPr/>
          <p:nvPr/>
        </p:nvSpPr>
        <p:spPr>
          <a:xfrm>
            <a:off x="0" y="4800600"/>
            <a:ext cx="9144000" cy="342900"/>
          </a:xfrm>
          <a:prstGeom prst="rect">
            <a:avLst/>
          </a:prstGeom>
          <a:solidFill>
            <a:srgbClr val="C9A84C"/>
          </a:solidFill>
          <a:ln w="12700">
            <a:solidFill>
              <a:srgbClr val="C9A84C"/>
            </a:solidFill>
            <a:prstDash val="solid"/>
          </a:ln>
        </p:spPr>
      </p:sp>
      <p:sp>
        <p:nvSpPr>
          <p:cNvPr id="8" name="Text 6"/>
          <p:cNvSpPr/>
          <p:nvPr/>
        </p:nvSpPr>
        <p:spPr>
          <a:xfrm>
            <a:off x="640080" y="4800600"/>
            <a:ext cx="7315200" cy="342900"/>
          </a:xfrm>
          <a:prstGeom prst="rect">
            <a:avLst/>
          </a:prstGeom>
          <a:noFill/>
          <a:ln/>
        </p:spPr>
        <p:txBody>
          <a:bodyPr wrap="square" lIns="0" tIns="0" rIns="0" bIns="0" rtlCol="0" anchor="ctr"/>
          <a:lstStyle/>
          <a:p>
            <a:pPr algn="l" indent="0" marL="0">
              <a:buNone/>
            </a:pPr>
            <a:r>
              <a:rPr lang="en-US" sz="1100" b="1" dirty="0">
                <a:solidFill>
                  <a:srgbClr val="1A2744"/>
                </a:solidFill>
              </a:rPr>
              <a:t>davenport-v7.vercel.app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A2744"/>
          </a:solidFill>
          <a:ln w="12700">
            <a:solidFill>
              <a:srgbClr val="1A2744"/>
            </a:solidFill>
            <a:prstDash val="solid"/>
          </a:ln>
        </p:spPr>
      </p:sp>
      <p:sp>
        <p:nvSpPr>
          <p:cNvPr id="3" name="Shape 1"/>
          <p:cNvSpPr/>
          <p:nvPr/>
        </p:nvSpPr>
        <p:spPr>
          <a:xfrm>
            <a:off x="0" y="0"/>
            <a:ext cx="201168" cy="5143500"/>
          </a:xfrm>
          <a:prstGeom prst="rect">
            <a:avLst/>
          </a:prstGeom>
          <a:solidFill>
            <a:srgbClr val="C9A84C"/>
          </a:solidFill>
          <a:ln w="12700">
            <a:solidFill>
              <a:srgbClr val="C9A84C"/>
            </a:solidFill>
            <a:prstDash val="solid"/>
          </a:ln>
        </p:spPr>
      </p:sp>
      <p:sp>
        <p:nvSpPr>
          <p:cNvPr id="4" name="Text 2"/>
          <p:cNvSpPr/>
          <p:nvPr/>
        </p:nvSpPr>
        <p:spPr>
          <a:xfrm>
            <a:off x="365760" y="457200"/>
            <a:ext cx="2743200" cy="1097280"/>
          </a:xfrm>
          <a:prstGeom prst="rect">
            <a:avLst/>
          </a:prstGeom>
          <a:noFill/>
          <a:ln/>
        </p:spPr>
        <p:txBody>
          <a:bodyPr wrap="square" lIns="0" tIns="0" rIns="0" bIns="0" rtlCol="0" anchor="ctr"/>
          <a:lstStyle/>
          <a:p>
            <a:pPr algn="l" indent="0" marL="0">
              <a:buNone/>
            </a:pPr>
            <a:r>
              <a:rPr lang="en-US" sz="2600" b="1" dirty="0">
                <a:solidFill>
                  <a:srgbClr val="FFFFFF"/>
                </a:solidFill>
              </a:rPr>
              <a:t>LONG-FORM</a:t>
            </a:r>
            <a:endParaRPr lang="en-US" sz="2600" dirty="0"/>
          </a:p>
          <a:p>
            <a:pPr algn="l" indent="0" marL="0">
              <a:buNone/>
            </a:pPr>
            <a:r>
              <a:rPr lang="en-US" sz="2600" b="1" dirty="0">
                <a:solidFill>
                  <a:srgbClr val="FFFFFF"/>
                </a:solidFill>
              </a:rPr>
              <a:t>PITCH</a:t>
            </a:r>
            <a:endParaRPr lang="en-US" sz="2600" dirty="0"/>
          </a:p>
        </p:txBody>
      </p:sp>
      <p:sp>
        <p:nvSpPr>
          <p:cNvPr id="5" name="Text 3"/>
          <p:cNvSpPr/>
          <p:nvPr/>
        </p:nvSpPr>
        <p:spPr>
          <a:xfrm>
            <a:off x="365760" y="1508760"/>
            <a:ext cx="2560320" cy="320040"/>
          </a:xfrm>
          <a:prstGeom prst="rect">
            <a:avLst/>
          </a:prstGeom>
          <a:noFill/>
          <a:ln/>
        </p:spPr>
        <p:txBody>
          <a:bodyPr wrap="square" lIns="0" tIns="0" rIns="0" bIns="0" rtlCol="0" anchor="ctr"/>
          <a:lstStyle/>
          <a:p>
            <a:pPr algn="l" indent="0" marL="0">
              <a:buNone/>
            </a:pPr>
            <a:r>
              <a:rPr lang="en-US" sz="1200" dirty="0">
                <a:solidFill>
                  <a:srgbClr val="C9A84C"/>
                </a:solidFill>
              </a:rPr>
              <a:t>~2–3 minutes</a:t>
            </a:r>
            <a:endParaRPr lang="en-US" sz="1200" dirty="0"/>
          </a:p>
        </p:txBody>
      </p:sp>
      <p:sp>
        <p:nvSpPr>
          <p:cNvPr id="6" name="Text 4"/>
          <p:cNvSpPr/>
          <p:nvPr/>
        </p:nvSpPr>
        <p:spPr>
          <a:xfrm>
            <a:off x="3520440" y="411480"/>
            <a:ext cx="5349240" cy="4343400"/>
          </a:xfrm>
          <a:prstGeom prst="rect">
            <a:avLst/>
          </a:prstGeom>
          <a:noFill/>
          <a:ln/>
        </p:spPr>
        <p:txBody>
          <a:bodyPr wrap="square" lIns="0" tIns="0" rIns="0" bIns="0" rtlCol="0" anchor="t"/>
          <a:lstStyle/>
          <a:p>
            <a:pPr algn="l" indent="0" marL="0">
              <a:spcAft>
                <a:spcPts val="400"/>
              </a:spcAft>
              <a:buNone/>
            </a:pPr>
            <a:r>
              <a:rPr lang="en-US" sz="1250" dirty="0">
                <a:solidFill>
                  <a:srgbClr val="1A2744"/>
                </a:solidFill>
              </a:rPr>
              <a:t>So I'm a college guy, and I kept buying clothes I never actually wore. Wrong size, wrong fit, looked nothing like the picture. It was expensive and annoying. I figured there had to be a better way.</a:t>
            </a:r>
            <a:endParaRPr lang="en-US" sz="1250" dirty="0"/>
          </a:p>
          <a:p>
            <a:pPr algn="l" indent="0" marL="0">
              <a:spcAft>
                <a:spcPts val="400"/>
              </a:spcAft>
              <a:buNone/>
            </a:pPr>
            <a:endParaRPr lang="en-US" sz="1250" dirty="0"/>
          </a:p>
          <a:p>
            <a:pPr algn="l" indent="0" marL="0">
              <a:spcAft>
                <a:spcPts val="400"/>
              </a:spcAft>
              <a:buNone/>
            </a:pPr>
            <a:r>
              <a:rPr lang="en-US" sz="1250" dirty="0">
                <a:solidFill>
                  <a:srgbClr val="1A2744"/>
                </a:solidFill>
              </a:rPr>
              <a:t>Davenport lets you try clothes before you commit. You build a Suitcase from our catalog, we ship it to your door, and you wear the pieces for the month. Brand new from brands like COS, Rhone, and Buck Mason. Or gently used if you want to spend less. Keep what you love, send back the rest.</a:t>
            </a:r>
            <a:endParaRPr lang="en-US" sz="1250" dirty="0"/>
          </a:p>
          <a:p>
            <a:pPr algn="l" indent="0" marL="0">
              <a:spcAft>
                <a:spcPts val="400"/>
              </a:spcAft>
              <a:buNone/>
            </a:pPr>
            <a:endParaRPr lang="en-US" sz="1250" dirty="0"/>
          </a:p>
          <a:p>
            <a:pPr algn="l" indent="0" marL="0">
              <a:spcAft>
                <a:spcPts val="400"/>
              </a:spcAft>
              <a:buNone/>
            </a:pPr>
            <a:r>
              <a:rPr lang="en-US" sz="1250" dirty="0">
                <a:solidFill>
                  <a:srgbClr val="1A2744"/>
                </a:solidFill>
              </a:rPr>
              <a:t>You pick your subscription length too. By semester, by season, or month to month. Whatever works for you. Not sure what your style even is? We have a quiz for that.</a:t>
            </a:r>
            <a:endParaRPr lang="en-US" sz="1250" dirty="0"/>
          </a:p>
          <a:p>
            <a:pPr algn="l" indent="0" marL="0">
              <a:spcAft>
                <a:spcPts val="400"/>
              </a:spcAft>
              <a:buNone/>
            </a:pPr>
            <a:endParaRPr lang="en-US" sz="1250" dirty="0"/>
          </a:p>
          <a:p>
            <a:pPr algn="l" indent="0" marL="0">
              <a:spcAft>
                <a:spcPts val="400"/>
              </a:spcAft>
              <a:buNone/>
            </a:pPr>
            <a:r>
              <a:rPr lang="en-US" sz="1250" dirty="0">
                <a:solidFill>
                  <a:srgbClr val="1A2744"/>
                </a:solidFill>
              </a:rPr>
              <a:t>Every other rental service is chasing weddings and job interviews. Nobody is doing everyday college style. That is the gap we are filling. Once we have that locked in, we are expanding to women too.</a:t>
            </a:r>
            <a:endParaRPr lang="en-US" sz="1250" dirty="0"/>
          </a:p>
        </p:txBody>
      </p:sp>
      <p:sp>
        <p:nvSpPr>
          <p:cNvPr id="7" name="Shape 5"/>
          <p:cNvSpPr/>
          <p:nvPr/>
        </p:nvSpPr>
        <p:spPr>
          <a:xfrm>
            <a:off x="0" y="4800600"/>
            <a:ext cx="9144000" cy="342900"/>
          </a:xfrm>
          <a:prstGeom prst="rect">
            <a:avLst/>
          </a:prstGeom>
          <a:solidFill>
            <a:srgbClr val="1A2744"/>
          </a:solidFill>
          <a:ln w="12700">
            <a:solidFill>
              <a:srgbClr val="1A2744"/>
            </a:solidFill>
            <a:prstDash val="solid"/>
          </a:ln>
        </p:spPr>
      </p:sp>
      <p:sp>
        <p:nvSpPr>
          <p:cNvPr id="8" name="Text 6"/>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744"/>
          </a:solidFill>
          <a:ln w="12700">
            <a:solidFill>
              <a:srgbClr val="1A2744"/>
            </a:solidFill>
            <a:prstDash val="solid"/>
          </a:ln>
        </p:spPr>
      </p:sp>
      <p:sp>
        <p:nvSpPr>
          <p:cNvPr id="3" name="Shape 1"/>
          <p:cNvSpPr/>
          <p:nvPr/>
        </p:nvSpPr>
        <p:spPr>
          <a:xfrm>
            <a:off x="0" y="1005840"/>
            <a:ext cx="9144000" cy="91440"/>
          </a:xfrm>
          <a:prstGeom prst="rect">
            <a:avLst/>
          </a:prstGeom>
          <a:solidFill>
            <a:srgbClr val="C9A84C"/>
          </a:solidFill>
          <a:ln w="12700">
            <a:solidFill>
              <a:srgbClr val="C9A84C"/>
            </a:solidFill>
            <a:prstDash val="solid"/>
          </a:ln>
        </p:spPr>
      </p:sp>
      <p:sp>
        <p:nvSpPr>
          <p:cNvPr id="4" name="Text 2"/>
          <p:cNvSpPr/>
          <p:nvPr/>
        </p:nvSpPr>
        <p:spPr>
          <a:xfrm>
            <a:off x="457200" y="137160"/>
            <a:ext cx="5486400" cy="457200"/>
          </a:xfrm>
          <a:prstGeom prst="rect">
            <a:avLst/>
          </a:prstGeom>
          <a:noFill/>
          <a:ln/>
        </p:spPr>
        <p:txBody>
          <a:bodyPr wrap="square" lIns="0" tIns="0" rIns="0" bIns="0" rtlCol="0" anchor="ctr"/>
          <a:lstStyle/>
          <a:p>
            <a:pPr algn="l" indent="0" marL="0">
              <a:buNone/>
            </a:pPr>
            <a:r>
              <a:rPr lang="en-US" sz="2200" b="1" dirty="0">
                <a:solidFill>
                  <a:srgbClr val="FFFFFF"/>
                </a:solidFill>
              </a:rPr>
              <a:t>MEDIUM PITCH</a:t>
            </a:r>
            <a:endParaRPr lang="en-US" sz="2200" dirty="0"/>
          </a:p>
        </p:txBody>
      </p:sp>
      <p:sp>
        <p:nvSpPr>
          <p:cNvPr id="5" name="Text 3"/>
          <p:cNvSpPr/>
          <p:nvPr/>
        </p:nvSpPr>
        <p:spPr>
          <a:xfrm>
            <a:off x="457200" y="594360"/>
            <a:ext cx="4572000" cy="320040"/>
          </a:xfrm>
          <a:prstGeom prst="rect">
            <a:avLst/>
          </a:prstGeom>
          <a:noFill/>
          <a:ln/>
        </p:spPr>
        <p:txBody>
          <a:bodyPr wrap="square" lIns="0" tIns="0" rIns="0" bIns="0" rtlCol="0" anchor="ctr"/>
          <a:lstStyle/>
          <a:p>
            <a:pPr algn="l" indent="0" marL="0">
              <a:buNone/>
            </a:pPr>
            <a:r>
              <a:rPr lang="en-US" sz="1200" dirty="0">
                <a:solidFill>
                  <a:srgbClr val="C9A84C"/>
                </a:solidFill>
              </a:rPr>
              <a:t>~60–90 seconds</a:t>
            </a:r>
            <a:endParaRPr lang="en-US" sz="1200" dirty="0"/>
          </a:p>
        </p:txBody>
      </p:sp>
      <p:sp>
        <p:nvSpPr>
          <p:cNvPr id="6" name="Shape 4"/>
          <p:cNvSpPr/>
          <p:nvPr/>
        </p:nvSpPr>
        <p:spPr>
          <a:xfrm>
            <a:off x="320040" y="1280160"/>
            <a:ext cx="2743200" cy="3520440"/>
          </a:xfrm>
          <a:prstGeom prst="rect">
            <a:avLst/>
          </a:prstGeom>
          <a:solidFill>
            <a:srgbClr val="FAF7F2"/>
          </a:solidFill>
          <a:ln w="12700">
            <a:solidFill>
              <a:srgbClr val="D9D2C5"/>
            </a:solidFill>
            <a:prstDash val="solid"/>
          </a:ln>
          <a:effectLst>
            <a:outerShdw sx="100000" sy="100000" kx="0" ky="0" algn="bl" rotWithShape="0" blurRad="101600" dist="38100" dir="8100000">
              <a:srgbClr val="000000">
                <a:alpha val="8000"/>
              </a:srgbClr>
            </a:outerShdw>
          </a:effectLst>
        </p:spPr>
      </p:sp>
      <p:sp>
        <p:nvSpPr>
          <p:cNvPr id="7" name="Shape 5"/>
          <p:cNvSpPr/>
          <p:nvPr/>
        </p:nvSpPr>
        <p:spPr>
          <a:xfrm>
            <a:off x="320040" y="1280160"/>
            <a:ext cx="2743200" cy="73152"/>
          </a:xfrm>
          <a:prstGeom prst="rect">
            <a:avLst/>
          </a:prstGeom>
          <a:solidFill>
            <a:srgbClr val="C9A84C"/>
          </a:solidFill>
          <a:ln w="12700">
            <a:solidFill>
              <a:srgbClr val="C9A84C"/>
            </a:solidFill>
            <a:prstDash val="solid"/>
          </a:ln>
        </p:spPr>
      </p:sp>
      <p:sp>
        <p:nvSpPr>
          <p:cNvPr id="8" name="Text 6"/>
          <p:cNvSpPr/>
          <p:nvPr/>
        </p:nvSpPr>
        <p:spPr>
          <a:xfrm>
            <a:off x="484632" y="1417320"/>
            <a:ext cx="2423160" cy="365760"/>
          </a:xfrm>
          <a:prstGeom prst="rect">
            <a:avLst/>
          </a:prstGeom>
          <a:noFill/>
          <a:ln/>
        </p:spPr>
        <p:txBody>
          <a:bodyPr wrap="square" lIns="0" tIns="0" rIns="0" bIns="0" rtlCol="0" anchor="ctr"/>
          <a:lstStyle/>
          <a:p>
            <a:pPr algn="l" indent="0" marL="0">
              <a:buNone/>
            </a:pPr>
            <a:r>
              <a:rPr lang="en-US" sz="1000" b="1" spc="200" kern="0" dirty="0">
                <a:solidFill>
                  <a:srgbClr val="C9A84C"/>
                </a:solidFill>
              </a:rPr>
              <a:t>THE PROBLEM</a:t>
            </a:r>
            <a:endParaRPr lang="en-US" sz="1000" dirty="0"/>
          </a:p>
        </p:txBody>
      </p:sp>
      <p:sp>
        <p:nvSpPr>
          <p:cNvPr id="9" name="Text 7"/>
          <p:cNvSpPr/>
          <p:nvPr/>
        </p:nvSpPr>
        <p:spPr>
          <a:xfrm>
            <a:off x="484632" y="1828800"/>
            <a:ext cx="2423160" cy="2651760"/>
          </a:xfrm>
          <a:prstGeom prst="rect">
            <a:avLst/>
          </a:prstGeom>
          <a:noFill/>
          <a:ln/>
        </p:spPr>
        <p:txBody>
          <a:bodyPr wrap="square" lIns="0" tIns="0" rIns="0" bIns="0" rtlCol="0" anchor="t"/>
          <a:lstStyle/>
          <a:p>
            <a:pPr algn="l" indent="0" marL="0">
              <a:buNone/>
            </a:pPr>
            <a:r>
              <a:rPr lang="en-US" sz="1300" dirty="0">
                <a:solidFill>
                  <a:srgbClr val="1A2744"/>
                </a:solidFill>
              </a:rPr>
              <a:t>Guys in college spend money on clothes they end up hating. Bad fit, wrong vibe, no way to know until it shows up. So they either stop buying or keep wasting money.</a:t>
            </a:r>
            <a:endParaRPr lang="en-US" sz="1300" dirty="0"/>
          </a:p>
        </p:txBody>
      </p:sp>
      <p:sp>
        <p:nvSpPr>
          <p:cNvPr id="10" name="Shape 8"/>
          <p:cNvSpPr/>
          <p:nvPr/>
        </p:nvSpPr>
        <p:spPr>
          <a:xfrm>
            <a:off x="3246120" y="1280160"/>
            <a:ext cx="2743200" cy="3520440"/>
          </a:xfrm>
          <a:prstGeom prst="rect">
            <a:avLst/>
          </a:prstGeom>
          <a:solidFill>
            <a:srgbClr val="FAF7F2"/>
          </a:solidFill>
          <a:ln w="12700">
            <a:solidFill>
              <a:srgbClr val="D9D2C5"/>
            </a:solidFill>
            <a:prstDash val="solid"/>
          </a:ln>
          <a:effectLst>
            <a:outerShdw sx="100000" sy="100000" kx="0" ky="0" algn="bl" rotWithShape="0" blurRad="101600" dist="38100" dir="8100000">
              <a:srgbClr val="000000">
                <a:alpha val="8000"/>
              </a:srgbClr>
            </a:outerShdw>
          </a:effectLst>
        </p:spPr>
      </p:sp>
      <p:sp>
        <p:nvSpPr>
          <p:cNvPr id="11" name="Shape 9"/>
          <p:cNvSpPr/>
          <p:nvPr/>
        </p:nvSpPr>
        <p:spPr>
          <a:xfrm>
            <a:off x="3246120" y="1280160"/>
            <a:ext cx="2743200" cy="73152"/>
          </a:xfrm>
          <a:prstGeom prst="rect">
            <a:avLst/>
          </a:prstGeom>
          <a:solidFill>
            <a:srgbClr val="C9A84C"/>
          </a:solidFill>
          <a:ln w="12700">
            <a:solidFill>
              <a:srgbClr val="C9A84C"/>
            </a:solidFill>
            <a:prstDash val="solid"/>
          </a:ln>
        </p:spPr>
      </p:sp>
      <p:sp>
        <p:nvSpPr>
          <p:cNvPr id="12" name="Text 10"/>
          <p:cNvSpPr/>
          <p:nvPr/>
        </p:nvSpPr>
        <p:spPr>
          <a:xfrm>
            <a:off x="3410712" y="1417320"/>
            <a:ext cx="2423160" cy="365760"/>
          </a:xfrm>
          <a:prstGeom prst="rect">
            <a:avLst/>
          </a:prstGeom>
          <a:noFill/>
          <a:ln/>
        </p:spPr>
        <p:txBody>
          <a:bodyPr wrap="square" lIns="0" tIns="0" rIns="0" bIns="0" rtlCol="0" anchor="ctr"/>
          <a:lstStyle/>
          <a:p>
            <a:pPr algn="l" indent="0" marL="0">
              <a:buNone/>
            </a:pPr>
            <a:r>
              <a:rPr lang="en-US" sz="1000" b="1" spc="200" kern="0" dirty="0">
                <a:solidFill>
                  <a:srgbClr val="C9A84C"/>
                </a:solidFill>
              </a:rPr>
              <a:t>THE SOLUTION</a:t>
            </a:r>
            <a:endParaRPr lang="en-US" sz="1000" dirty="0"/>
          </a:p>
        </p:txBody>
      </p:sp>
      <p:sp>
        <p:nvSpPr>
          <p:cNvPr id="13" name="Text 11"/>
          <p:cNvSpPr/>
          <p:nvPr/>
        </p:nvSpPr>
        <p:spPr>
          <a:xfrm>
            <a:off x="3410712" y="1828800"/>
            <a:ext cx="2423160" cy="2651760"/>
          </a:xfrm>
          <a:prstGeom prst="rect">
            <a:avLst/>
          </a:prstGeom>
          <a:noFill/>
          <a:ln/>
        </p:spPr>
        <p:txBody>
          <a:bodyPr wrap="square" lIns="0" tIns="0" rIns="0" bIns="0" rtlCol="0" anchor="t"/>
          <a:lstStyle/>
          <a:p>
            <a:pPr algn="l" indent="0" marL="0">
              <a:buNone/>
            </a:pPr>
            <a:r>
              <a:rPr lang="en-US" sz="1300" dirty="0">
                <a:solidFill>
                  <a:srgbClr val="1A2744"/>
                </a:solidFill>
              </a:rPr>
              <a:t>Davenport ships you a box of real clothes from brands you actually want. Try them for the month. Keep what works, send back what doesn't. No commitment, no bad purchases.</a:t>
            </a:r>
            <a:endParaRPr lang="en-US" sz="1300" dirty="0"/>
          </a:p>
        </p:txBody>
      </p:sp>
      <p:sp>
        <p:nvSpPr>
          <p:cNvPr id="14" name="Shape 12"/>
          <p:cNvSpPr/>
          <p:nvPr/>
        </p:nvSpPr>
        <p:spPr>
          <a:xfrm>
            <a:off x="6172200" y="1280160"/>
            <a:ext cx="2743200" cy="3520440"/>
          </a:xfrm>
          <a:prstGeom prst="rect">
            <a:avLst/>
          </a:prstGeom>
          <a:solidFill>
            <a:srgbClr val="FAF7F2"/>
          </a:solidFill>
          <a:ln w="12700">
            <a:solidFill>
              <a:srgbClr val="D9D2C5"/>
            </a:solidFill>
            <a:prstDash val="solid"/>
          </a:ln>
          <a:effectLst>
            <a:outerShdw sx="100000" sy="100000" kx="0" ky="0" algn="bl" rotWithShape="0" blurRad="101600" dist="38100" dir="8100000">
              <a:srgbClr val="000000">
                <a:alpha val="8000"/>
              </a:srgbClr>
            </a:outerShdw>
          </a:effectLst>
        </p:spPr>
      </p:sp>
      <p:sp>
        <p:nvSpPr>
          <p:cNvPr id="15" name="Shape 13"/>
          <p:cNvSpPr/>
          <p:nvPr/>
        </p:nvSpPr>
        <p:spPr>
          <a:xfrm>
            <a:off x="6172200" y="1280160"/>
            <a:ext cx="2743200" cy="73152"/>
          </a:xfrm>
          <a:prstGeom prst="rect">
            <a:avLst/>
          </a:prstGeom>
          <a:solidFill>
            <a:srgbClr val="C9A84C"/>
          </a:solidFill>
          <a:ln w="12700">
            <a:solidFill>
              <a:srgbClr val="C9A84C"/>
            </a:solidFill>
            <a:prstDash val="solid"/>
          </a:ln>
        </p:spPr>
      </p:sp>
      <p:sp>
        <p:nvSpPr>
          <p:cNvPr id="16" name="Text 14"/>
          <p:cNvSpPr/>
          <p:nvPr/>
        </p:nvSpPr>
        <p:spPr>
          <a:xfrm>
            <a:off x="6336792" y="1417320"/>
            <a:ext cx="2423160" cy="365760"/>
          </a:xfrm>
          <a:prstGeom prst="rect">
            <a:avLst/>
          </a:prstGeom>
          <a:noFill/>
          <a:ln/>
        </p:spPr>
        <p:txBody>
          <a:bodyPr wrap="square" lIns="0" tIns="0" rIns="0" bIns="0" rtlCol="0" anchor="ctr"/>
          <a:lstStyle/>
          <a:p>
            <a:pPr algn="l" indent="0" marL="0">
              <a:buNone/>
            </a:pPr>
            <a:r>
              <a:rPr lang="en-US" sz="1000" b="1" spc="200" kern="0" dirty="0">
                <a:solidFill>
                  <a:srgbClr val="C9A84C"/>
                </a:solidFill>
              </a:rPr>
              <a:t>THE EDGE</a:t>
            </a:r>
            <a:endParaRPr lang="en-US" sz="1000" dirty="0"/>
          </a:p>
        </p:txBody>
      </p:sp>
      <p:sp>
        <p:nvSpPr>
          <p:cNvPr id="17" name="Text 15"/>
          <p:cNvSpPr/>
          <p:nvPr/>
        </p:nvSpPr>
        <p:spPr>
          <a:xfrm>
            <a:off x="6336792" y="1828800"/>
            <a:ext cx="2423160" cy="2651760"/>
          </a:xfrm>
          <a:prstGeom prst="rect">
            <a:avLst/>
          </a:prstGeom>
          <a:noFill/>
          <a:ln/>
        </p:spPr>
        <p:txBody>
          <a:bodyPr wrap="square" lIns="0" tIns="0" rIns="0" bIns="0" rtlCol="0" anchor="t"/>
          <a:lstStyle/>
          <a:p>
            <a:pPr algn="l" indent="0" marL="0">
              <a:buNone/>
            </a:pPr>
            <a:r>
              <a:rPr lang="en-US" sz="1300" dirty="0">
                <a:solidFill>
                  <a:srgbClr val="1A2744"/>
                </a:solidFill>
              </a:rPr>
              <a:t>Every other rental service is built for formal wear. Nobody is doing everyday college fits. We are. Semester, season, or monthly plans. Women coming next.</a:t>
            </a:r>
            <a:endParaRPr lang="en-US" sz="1300" dirty="0"/>
          </a:p>
        </p:txBody>
      </p:sp>
      <p:sp>
        <p:nvSpPr>
          <p:cNvPr id="18" name="Shape 16"/>
          <p:cNvSpPr/>
          <p:nvPr/>
        </p:nvSpPr>
        <p:spPr>
          <a:xfrm>
            <a:off x="0" y="4800600"/>
            <a:ext cx="9144000" cy="342900"/>
          </a:xfrm>
          <a:prstGeom prst="rect">
            <a:avLst/>
          </a:prstGeom>
          <a:solidFill>
            <a:srgbClr val="1A2744"/>
          </a:solidFill>
          <a:ln w="12700">
            <a:solidFill>
              <a:srgbClr val="1A2744"/>
            </a:solidFill>
            <a:prstDash val="solid"/>
          </a:ln>
        </p:spPr>
      </p:sp>
      <p:sp>
        <p:nvSpPr>
          <p:cNvPr id="19" name="Text 17"/>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9A84C"/>
          </a:solidFill>
          <a:ln w="12700">
            <a:solidFill>
              <a:srgbClr val="C9A84C"/>
            </a:solidFill>
            <a:prstDash val="solid"/>
          </a:ln>
        </p:spPr>
      </p:sp>
      <p:sp>
        <p:nvSpPr>
          <p:cNvPr id="3" name="Text 1"/>
          <p:cNvSpPr/>
          <p:nvPr/>
        </p:nvSpPr>
        <p:spPr>
          <a:xfrm>
            <a:off x="640080" y="457200"/>
            <a:ext cx="7315200" cy="457200"/>
          </a:xfrm>
          <a:prstGeom prst="rect">
            <a:avLst/>
          </a:prstGeom>
          <a:noFill/>
          <a:ln/>
        </p:spPr>
        <p:txBody>
          <a:bodyPr wrap="square" lIns="0" tIns="0" rIns="0" bIns="0" rtlCol="0" anchor="ctr"/>
          <a:lstStyle/>
          <a:p>
            <a:pPr algn="l" indent="0" marL="0">
              <a:buNone/>
            </a:pPr>
            <a:r>
              <a:rPr lang="en-US" sz="1300" b="1" spc="400" kern="0" dirty="0">
                <a:solidFill>
                  <a:srgbClr val="C9A84C"/>
                </a:solidFill>
              </a:rPr>
              <a:t>ELEVATOR PITCH</a:t>
            </a:r>
            <a:endParaRPr lang="en-US" sz="1300" dirty="0"/>
          </a:p>
        </p:txBody>
      </p:sp>
      <p:sp>
        <p:nvSpPr>
          <p:cNvPr id="4" name="Text 2"/>
          <p:cNvSpPr/>
          <p:nvPr/>
        </p:nvSpPr>
        <p:spPr>
          <a:xfrm>
            <a:off x="640080" y="868680"/>
            <a:ext cx="4572000" cy="320040"/>
          </a:xfrm>
          <a:prstGeom prst="rect">
            <a:avLst/>
          </a:prstGeom>
          <a:noFill/>
          <a:ln/>
        </p:spPr>
        <p:txBody>
          <a:bodyPr wrap="square" lIns="0" tIns="0" rIns="0" bIns="0" rtlCol="0" anchor="ctr"/>
          <a:lstStyle/>
          <a:p>
            <a:pPr algn="l" indent="0" marL="0">
              <a:buNone/>
            </a:pPr>
            <a:r>
              <a:rPr lang="en-US" sz="1100" dirty="0">
                <a:solidFill>
                  <a:srgbClr val="8A9BBB"/>
                </a:solidFill>
              </a:rPr>
              <a:t>~20–30 seconds</a:t>
            </a:r>
            <a:endParaRPr lang="en-US" sz="1100" dirty="0"/>
          </a:p>
        </p:txBody>
      </p:sp>
      <p:sp>
        <p:nvSpPr>
          <p:cNvPr id="5" name="Text 3"/>
          <p:cNvSpPr/>
          <p:nvPr/>
        </p:nvSpPr>
        <p:spPr>
          <a:xfrm>
            <a:off x="640080" y="1371600"/>
            <a:ext cx="7772400" cy="3200400"/>
          </a:xfrm>
          <a:prstGeom prst="rect">
            <a:avLst/>
          </a:prstGeom>
          <a:noFill/>
          <a:ln/>
        </p:spPr>
        <p:txBody>
          <a:bodyPr wrap="square" lIns="0" tIns="0" rIns="0" bIns="0" rtlCol="0" anchor="ctr"/>
          <a:lstStyle/>
          <a:p>
            <a:pPr algn="l" indent="0" marL="0">
              <a:buNone/>
            </a:pPr>
            <a:r>
              <a:rPr lang="en-US" sz="2200" i="1" dirty="0">
                <a:solidFill>
                  <a:srgbClr val="FFFFFF"/>
                </a:solidFill>
              </a:rPr>
              <a:t>"So basically I got tired of buying stuff online and it showing up wrong. Davenport is a clothing subscription where you pick pieces from brands like Rhone and Buck Mason, we ship them to you, you wear them for a month, and you only keep what you actually like. No bad purchases, no wasted money."</a:t>
            </a:r>
            <a:endParaRPr lang="en-US" sz="2200" dirty="0"/>
          </a:p>
        </p:txBody>
      </p:sp>
      <p:sp>
        <p:nvSpPr>
          <p:cNvPr id="6" name="Shape 4"/>
          <p:cNvSpPr/>
          <p:nvPr/>
        </p:nvSpPr>
        <p:spPr>
          <a:xfrm>
            <a:off x="0" y="4800600"/>
            <a:ext cx="9144000" cy="342900"/>
          </a:xfrm>
          <a:prstGeom prst="rect">
            <a:avLst/>
          </a:prstGeom>
          <a:solidFill>
            <a:srgbClr val="C9A84C"/>
          </a:solidFill>
          <a:ln w="12700">
            <a:solidFill>
              <a:srgbClr val="C9A84C"/>
            </a:solidFill>
            <a:prstDash val="solid"/>
          </a:ln>
        </p:spPr>
      </p:sp>
      <p:sp>
        <p:nvSpPr>
          <p:cNvPr id="7" name="Text 5"/>
          <p:cNvSpPr/>
          <p:nvPr/>
        </p:nvSpPr>
        <p:spPr>
          <a:xfrm>
            <a:off x="640080" y="4800600"/>
            <a:ext cx="7315200" cy="342900"/>
          </a:xfrm>
          <a:prstGeom prst="rect">
            <a:avLst/>
          </a:prstGeom>
          <a:noFill/>
          <a:ln/>
        </p:spPr>
        <p:txBody>
          <a:bodyPr wrap="square" lIns="0" tIns="0" rIns="0" bIns="0" rtlCol="0" anchor="ctr"/>
          <a:lstStyle/>
          <a:p>
            <a:pPr algn="l" indent="0" marL="0">
              <a:buNone/>
            </a:pPr>
            <a:r>
              <a:rPr lang="en-US" sz="1100" b="1" dirty="0">
                <a:solidFill>
                  <a:srgbClr val="1A2744"/>
                </a:solidFill>
              </a:rPr>
              <a:t>davenport-v7.vercel.app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744"/>
          </a:solidFill>
          <a:ln w="12700">
            <a:solidFill>
              <a:srgbClr val="1A2744"/>
            </a:solidFill>
            <a:prstDash val="solid"/>
          </a:ln>
        </p:spPr>
      </p:sp>
      <p:sp>
        <p:nvSpPr>
          <p:cNvPr id="3" name="Shape 1"/>
          <p:cNvSpPr/>
          <p:nvPr/>
        </p:nvSpPr>
        <p:spPr>
          <a:xfrm>
            <a:off x="0" y="914400"/>
            <a:ext cx="9144000" cy="91440"/>
          </a:xfrm>
          <a:prstGeom prst="rect">
            <a:avLst/>
          </a:prstGeom>
          <a:solidFill>
            <a:srgbClr val="C9A84C"/>
          </a:solidFill>
          <a:ln w="12700">
            <a:solidFill>
              <a:srgbClr val="C9A84C"/>
            </a:solidFill>
            <a:prstDash val="solid"/>
          </a:ln>
        </p:spPr>
      </p:sp>
      <p:sp>
        <p:nvSpPr>
          <p:cNvPr id="4" name="Text 2"/>
          <p:cNvSpPr/>
          <p:nvPr/>
        </p:nvSpPr>
        <p:spPr>
          <a:xfrm>
            <a:off x="457200" y="137160"/>
            <a:ext cx="5486400" cy="411480"/>
          </a:xfrm>
          <a:prstGeom prst="rect">
            <a:avLst/>
          </a:prstGeom>
          <a:noFill/>
          <a:ln/>
        </p:spPr>
        <p:txBody>
          <a:bodyPr wrap="square" lIns="0" tIns="0" rIns="0" bIns="0" rtlCol="0" anchor="ctr"/>
          <a:lstStyle/>
          <a:p>
            <a:pPr algn="l" indent="0" marL="0">
              <a:buNone/>
            </a:pPr>
            <a:r>
              <a:rPr lang="en-US" sz="2200" b="1" dirty="0">
                <a:solidFill>
                  <a:srgbClr val="FFFFFF"/>
                </a:solidFill>
              </a:rPr>
              <a:t>EMAIL PITCH</a:t>
            </a:r>
            <a:endParaRPr lang="en-US" sz="2200" dirty="0"/>
          </a:p>
        </p:txBody>
      </p:sp>
      <p:sp>
        <p:nvSpPr>
          <p:cNvPr id="5" name="Text 3"/>
          <p:cNvSpPr/>
          <p:nvPr/>
        </p:nvSpPr>
        <p:spPr>
          <a:xfrm>
            <a:off x="457200" y="548640"/>
            <a:ext cx="5486400" cy="274320"/>
          </a:xfrm>
          <a:prstGeom prst="rect">
            <a:avLst/>
          </a:prstGeom>
          <a:noFill/>
          <a:ln/>
        </p:spPr>
        <p:txBody>
          <a:bodyPr wrap="square" lIns="0" tIns="0" rIns="0" bIns="0" rtlCol="0" anchor="ctr"/>
          <a:lstStyle/>
          <a:p>
            <a:pPr algn="l" indent="0" marL="0">
              <a:buNone/>
            </a:pPr>
            <a:r>
              <a:rPr lang="en-US" sz="1100" dirty="0">
                <a:solidFill>
                  <a:srgbClr val="C9A84C"/>
                </a:solidFill>
              </a:rPr>
              <a:t>Cold outreach or warm follow-up</a:t>
            </a:r>
            <a:endParaRPr lang="en-US" sz="1100" dirty="0"/>
          </a:p>
        </p:txBody>
      </p:sp>
      <p:sp>
        <p:nvSpPr>
          <p:cNvPr id="6" name="Shape 4"/>
          <p:cNvSpPr/>
          <p:nvPr/>
        </p:nvSpPr>
        <p:spPr>
          <a:xfrm>
            <a:off x="457200" y="1143000"/>
            <a:ext cx="8229600" cy="3657600"/>
          </a:xfrm>
          <a:prstGeom prst="rect">
            <a:avLst/>
          </a:prstGeom>
          <a:solidFill>
            <a:srgbClr val="FFFFFF"/>
          </a:solidFill>
          <a:ln w="12700">
            <a:solidFill>
              <a:srgbClr val="D9D2C5"/>
            </a:solidFill>
            <a:prstDash val="solid"/>
          </a:ln>
          <a:effectLst>
            <a:outerShdw sx="100000" sy="100000" kx="0" ky="0" algn="bl" rotWithShape="0" blurRad="127000" dist="50800" dir="8100000">
              <a:srgbClr val="000000">
                <a:alpha val="10000"/>
              </a:srgbClr>
            </a:outerShdw>
          </a:effectLst>
        </p:spPr>
      </p:sp>
      <p:sp>
        <p:nvSpPr>
          <p:cNvPr id="7" name="Shape 5"/>
          <p:cNvSpPr/>
          <p:nvPr/>
        </p:nvSpPr>
        <p:spPr>
          <a:xfrm>
            <a:off x="457200" y="1143000"/>
            <a:ext cx="8229600" cy="384048"/>
          </a:xfrm>
          <a:prstGeom prst="rect">
            <a:avLst/>
          </a:prstGeom>
          <a:solidFill>
            <a:srgbClr val="EEE9E0"/>
          </a:solidFill>
          <a:ln w="12700">
            <a:solidFill>
              <a:srgbClr val="D9D2C5"/>
            </a:solidFill>
            <a:prstDash val="solid"/>
          </a:ln>
        </p:spPr>
      </p:sp>
      <p:sp>
        <p:nvSpPr>
          <p:cNvPr id="8" name="Text 6"/>
          <p:cNvSpPr/>
          <p:nvPr/>
        </p:nvSpPr>
        <p:spPr>
          <a:xfrm>
            <a:off x="640080" y="1188720"/>
            <a:ext cx="7863840" cy="292608"/>
          </a:xfrm>
          <a:prstGeom prst="rect">
            <a:avLst/>
          </a:prstGeom>
          <a:noFill/>
          <a:ln/>
        </p:spPr>
        <p:txBody>
          <a:bodyPr wrap="square" lIns="0" tIns="0" rIns="0" bIns="0" rtlCol="0" anchor="ctr"/>
          <a:lstStyle/>
          <a:p>
            <a:pPr algn="l" indent="0" marL="0">
              <a:buNone/>
            </a:pPr>
            <a:r>
              <a:rPr lang="en-US" sz="1100" b="1" dirty="0">
                <a:solidFill>
                  <a:srgbClr val="1A2744"/>
                </a:solidFill>
              </a:rPr>
              <a:t>Subject:  Built this for college guys who hate buying the wrong thing</a:t>
            </a:r>
            <a:endParaRPr lang="en-US" sz="1100" dirty="0"/>
          </a:p>
        </p:txBody>
      </p:sp>
      <p:sp>
        <p:nvSpPr>
          <p:cNvPr id="9" name="Text 7"/>
          <p:cNvSpPr/>
          <p:nvPr/>
        </p:nvSpPr>
        <p:spPr>
          <a:xfrm>
            <a:off x="685800" y="1600200"/>
            <a:ext cx="7772400" cy="3017520"/>
          </a:xfrm>
          <a:prstGeom prst="rect">
            <a:avLst/>
          </a:prstGeom>
          <a:noFill/>
          <a:ln/>
        </p:spPr>
        <p:txBody>
          <a:bodyPr wrap="square" lIns="0" tIns="0" rIns="0" bIns="0" rtlCol="0" anchor="t"/>
          <a:lstStyle/>
          <a:p>
            <a:pPr algn="l" indent="0" marL="0">
              <a:buNone/>
            </a:pPr>
            <a:r>
              <a:rPr lang="en-US" sz="1100" dirty="0">
                <a:solidFill>
                  <a:srgbClr val="1A2744"/>
                </a:solidFill>
              </a:rPr>
              <a:t>Hi [Name],</a:t>
            </a:r>
            <a:endParaRPr lang="en-US" sz="1100" dirty="0"/>
          </a:p>
          <a:p>
            <a:pPr algn="l" indent="0" marL="0">
              <a:buNone/>
            </a:pPr>
            <a:endParaRPr lang="en-US" sz="1100" dirty="0"/>
          </a:p>
          <a:p>
            <a:pPr algn="l" indent="0" marL="0">
              <a:buNone/>
            </a:pPr>
            <a:r>
              <a:rPr lang="en-US" sz="1100" dirty="0">
                <a:solidFill>
                  <a:srgbClr val="1A2744"/>
                </a:solidFill>
              </a:rPr>
              <a:t>I'm a college student and I built Davenport Wardrobe because I kept spending money on clothes that showed up and just didn't work. Wrong fit, wrong feel, and no way to know until it was too late to return.</a:t>
            </a:r>
            <a:endParaRPr lang="en-US" sz="1100" dirty="0"/>
          </a:p>
          <a:p>
            <a:pPr algn="l" indent="0" marL="0">
              <a:buNone/>
            </a:pPr>
            <a:endParaRPr lang="en-US" sz="1100" dirty="0"/>
          </a:p>
          <a:p>
            <a:pPr algn="l" indent="0" marL="0">
              <a:buNone/>
            </a:pPr>
            <a:r>
              <a:rPr lang="en-US" sz="1100" dirty="0">
                <a:solidFill>
                  <a:srgbClr val="1A2744"/>
                </a:solidFill>
              </a:rPr>
              <a:t>Davenport is a clothing subscription for college guys. You pick pieces from brands like COS, Buck Mason, and Rhone, we box them up and ship them to you, and you wear them for the month. Keep what you love, send back what you don't. New pieces or gently used, your call. Plans go by semester, season, or month.</a:t>
            </a:r>
            <a:endParaRPr lang="en-US" sz="1100" dirty="0"/>
          </a:p>
          <a:p>
            <a:pPr algn="l" indent="0" marL="0">
              <a:buNone/>
            </a:pPr>
            <a:endParaRPr lang="en-US" sz="1100" dirty="0"/>
          </a:p>
          <a:p>
            <a:pPr algn="l" indent="0" marL="0">
              <a:buNone/>
            </a:pPr>
            <a:r>
              <a:rPr lang="en-US" sz="1100" dirty="0">
                <a:solidFill>
                  <a:srgbClr val="1A2744"/>
                </a:solidFill>
              </a:rPr>
              <a:t>We're pre-launch right now and I think there could be something here worth talking about. Would you have 15 minutes this week?</a:t>
            </a:r>
            <a:endParaRPr lang="en-US" sz="1100" dirty="0"/>
          </a:p>
          <a:p>
            <a:pPr algn="l" indent="0" marL="0">
              <a:buNone/>
            </a:pPr>
            <a:endParaRPr lang="en-US" sz="1100" dirty="0"/>
          </a:p>
          <a:p>
            <a:pPr algn="l" indent="0" marL="0">
              <a:buNone/>
            </a:pPr>
            <a:r>
              <a:rPr lang="en-US" sz="1100" dirty="0">
                <a:solidFill>
                  <a:srgbClr val="1A2744"/>
                </a:solidFill>
              </a:rPr>
              <a:t>[Your Name]</a:t>
            </a:r>
            <a:endParaRPr lang="en-US" sz="1100" dirty="0"/>
          </a:p>
          <a:p>
            <a:pPr algn="l" indent="0" marL="0">
              <a:buNone/>
            </a:pPr>
            <a:r>
              <a:rPr lang="en-US" sz="1100" dirty="0">
                <a:solidFill>
                  <a:srgbClr val="1A2744"/>
                </a:solidFill>
              </a:rPr>
              <a:t>Davenport Wardrobe | davenport-v7.vercel.app</a:t>
            </a:r>
            <a:endParaRPr lang="en-US" sz="1100" dirty="0"/>
          </a:p>
        </p:txBody>
      </p:sp>
      <p:sp>
        <p:nvSpPr>
          <p:cNvPr id="10" name="Shape 8"/>
          <p:cNvSpPr/>
          <p:nvPr/>
        </p:nvSpPr>
        <p:spPr>
          <a:xfrm>
            <a:off x="0" y="4800600"/>
            <a:ext cx="9144000" cy="342900"/>
          </a:xfrm>
          <a:prstGeom prst="rect">
            <a:avLst/>
          </a:prstGeom>
          <a:solidFill>
            <a:srgbClr val="1A2744"/>
          </a:solidFill>
          <a:ln w="12700">
            <a:solidFill>
              <a:srgbClr val="1A2744"/>
            </a:solidFill>
            <a:prstDash val="solid"/>
          </a:ln>
        </p:spPr>
      </p:sp>
      <p:sp>
        <p:nvSpPr>
          <p:cNvPr id="11" name="Text 9"/>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A66C2"/>
          </a:solidFill>
          <a:ln w="12700">
            <a:solidFill>
              <a:srgbClr val="0A66C2"/>
            </a:solidFill>
            <a:prstDash val="solid"/>
          </a:ln>
        </p:spPr>
      </p:sp>
      <p:sp>
        <p:nvSpPr>
          <p:cNvPr id="3" name="Text 1"/>
          <p:cNvSpPr/>
          <p:nvPr/>
        </p:nvSpPr>
        <p:spPr>
          <a:xfrm>
            <a:off x="640080" y="365760"/>
            <a:ext cx="7315200" cy="457200"/>
          </a:xfrm>
          <a:prstGeom prst="rect">
            <a:avLst/>
          </a:prstGeom>
          <a:noFill/>
          <a:ln/>
        </p:spPr>
        <p:txBody>
          <a:bodyPr wrap="square" lIns="0" tIns="0" rIns="0" bIns="0" rtlCol="0" anchor="ctr"/>
          <a:lstStyle/>
          <a:p>
            <a:pPr algn="l" indent="0" marL="0">
              <a:buNone/>
            </a:pPr>
            <a:r>
              <a:rPr lang="en-US" sz="2200" b="1" dirty="0">
                <a:solidFill>
                  <a:srgbClr val="FFFFFF"/>
                </a:solidFill>
              </a:rPr>
              <a:t>LINKEDIN INMAIL</a:t>
            </a:r>
            <a:endParaRPr lang="en-US" sz="2200" dirty="0"/>
          </a:p>
        </p:txBody>
      </p:sp>
      <p:sp>
        <p:nvSpPr>
          <p:cNvPr id="4" name="Text 2"/>
          <p:cNvSpPr/>
          <p:nvPr/>
        </p:nvSpPr>
        <p:spPr>
          <a:xfrm>
            <a:off x="640080" y="777240"/>
            <a:ext cx="7315200" cy="274320"/>
          </a:xfrm>
          <a:prstGeom prst="rect">
            <a:avLst/>
          </a:prstGeom>
          <a:noFill/>
          <a:ln/>
        </p:spPr>
        <p:txBody>
          <a:bodyPr wrap="square" lIns="0" tIns="0" rIns="0" bIns="0" rtlCol="0" anchor="ctr"/>
          <a:lstStyle/>
          <a:p>
            <a:pPr algn="l" indent="0" marL="0">
              <a:buNone/>
            </a:pPr>
            <a:r>
              <a:rPr lang="en-US" sz="1100" dirty="0">
                <a:solidFill>
                  <a:srgbClr val="8A9BBB"/>
                </a:solidFill>
              </a:rPr>
              <a:t>300–400 characters  |  Conversational &amp; direct</a:t>
            </a:r>
            <a:endParaRPr lang="en-US" sz="1100" dirty="0"/>
          </a:p>
        </p:txBody>
      </p:sp>
      <p:sp>
        <p:nvSpPr>
          <p:cNvPr id="5" name="Shape 3"/>
          <p:cNvSpPr/>
          <p:nvPr/>
        </p:nvSpPr>
        <p:spPr>
          <a:xfrm>
            <a:off x="640080" y="1188720"/>
            <a:ext cx="7863840" cy="3474720"/>
          </a:xfrm>
          <a:prstGeom prst="rect">
            <a:avLst/>
          </a:prstGeom>
          <a:solidFill>
            <a:srgbClr val="1E2D3D"/>
          </a:solidFill>
          <a:ln w="12700">
            <a:solidFill>
              <a:srgbClr val="2E4060"/>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640080" y="1188720"/>
            <a:ext cx="7863840" cy="73152"/>
          </a:xfrm>
          <a:prstGeom prst="rect">
            <a:avLst/>
          </a:prstGeom>
          <a:solidFill>
            <a:srgbClr val="0A66C2"/>
          </a:solidFill>
          <a:ln w="12700">
            <a:solidFill>
              <a:srgbClr val="0A66C2"/>
            </a:solidFill>
            <a:prstDash val="solid"/>
          </a:ln>
        </p:spPr>
      </p:sp>
      <p:sp>
        <p:nvSpPr>
          <p:cNvPr id="7" name="Text 5"/>
          <p:cNvSpPr/>
          <p:nvPr/>
        </p:nvSpPr>
        <p:spPr>
          <a:xfrm>
            <a:off x="914400" y="1417320"/>
            <a:ext cx="7315200" cy="3017520"/>
          </a:xfrm>
          <a:prstGeom prst="rect">
            <a:avLst/>
          </a:prstGeom>
          <a:noFill/>
          <a:ln/>
        </p:spPr>
        <p:txBody>
          <a:bodyPr wrap="square" lIns="0" tIns="0" rIns="0" bIns="0" rtlCol="0" anchor="t"/>
          <a:lstStyle/>
          <a:p>
            <a:pPr algn="l" indent="0" marL="0">
              <a:buNone/>
            </a:pPr>
            <a:r>
              <a:rPr lang="en-US" sz="1500" dirty="0">
                <a:solidFill>
                  <a:srgbClr val="FFFFFF"/>
                </a:solidFill>
              </a:rPr>
              <a:t>Hi [Name], I'm a college student building Davenport Wardrobe. It's a clothing subscription for college guys where you try pieces from brands like Rhone and COS, keep what you want, and send back the rest. Pre-launch now and would love to connect.</a:t>
            </a:r>
            <a:endParaRPr lang="en-US" sz="1500" dirty="0"/>
          </a:p>
        </p:txBody>
      </p:sp>
      <p:sp>
        <p:nvSpPr>
          <p:cNvPr id="8" name="Shape 6"/>
          <p:cNvSpPr/>
          <p:nvPr/>
        </p:nvSpPr>
        <p:spPr>
          <a:xfrm>
            <a:off x="0" y="4800600"/>
            <a:ext cx="9144000" cy="342900"/>
          </a:xfrm>
          <a:prstGeom prst="rect">
            <a:avLst/>
          </a:prstGeom>
          <a:solidFill>
            <a:srgbClr val="0A66C2"/>
          </a:solidFill>
          <a:ln w="12700">
            <a:solidFill>
              <a:srgbClr val="0A66C2"/>
            </a:solidFill>
            <a:prstDash val="solid"/>
          </a:ln>
        </p:spPr>
      </p:sp>
      <p:sp>
        <p:nvSpPr>
          <p:cNvPr id="9" name="Text 7"/>
          <p:cNvSpPr/>
          <p:nvPr/>
        </p:nvSpPr>
        <p:spPr>
          <a:xfrm>
            <a:off x="640080" y="4800600"/>
            <a:ext cx="8229600" cy="342900"/>
          </a:xfrm>
          <a:prstGeom prst="rect">
            <a:avLst/>
          </a:prstGeom>
          <a:noFill/>
          <a:ln/>
        </p:spPr>
        <p:txBody>
          <a:bodyPr wrap="square" lIns="0" tIns="0" rIns="0" bIns="0" rtlCol="0" anchor="ctr"/>
          <a:lstStyle/>
          <a:p>
            <a:pPr algn="l" indent="0" marL="0">
              <a:buNone/>
            </a:pPr>
            <a:r>
              <a:rPr lang="en-US" sz="1000" dirty="0">
                <a:solidFill>
                  <a:srgbClr val="FFFFFF"/>
                </a:solidFill>
              </a:rPr>
              <a:t>linkedin.com  |  Davenport Wardrobe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744"/>
          </a:solidFill>
          <a:ln w="12700">
            <a:solidFill>
              <a:srgbClr val="1A2744"/>
            </a:solidFill>
            <a:prstDash val="solid"/>
          </a:ln>
        </p:spPr>
      </p:sp>
      <p:sp>
        <p:nvSpPr>
          <p:cNvPr id="3" name="Shape 1"/>
          <p:cNvSpPr/>
          <p:nvPr/>
        </p:nvSpPr>
        <p:spPr>
          <a:xfrm>
            <a:off x="0" y="914400"/>
            <a:ext cx="9144000" cy="91440"/>
          </a:xfrm>
          <a:prstGeom prst="rect">
            <a:avLst/>
          </a:prstGeom>
          <a:solidFill>
            <a:srgbClr val="C9A84C"/>
          </a:solidFill>
          <a:ln w="12700">
            <a:solidFill>
              <a:srgbClr val="C9A84C"/>
            </a:solidFill>
            <a:prstDash val="solid"/>
          </a:ln>
        </p:spPr>
      </p:sp>
      <p:sp>
        <p:nvSpPr>
          <p:cNvPr id="4" name="Text 2"/>
          <p:cNvSpPr/>
          <p:nvPr/>
        </p:nvSpPr>
        <p:spPr>
          <a:xfrm>
            <a:off x="457200" y="137160"/>
            <a:ext cx="6400800" cy="411480"/>
          </a:xfrm>
          <a:prstGeom prst="rect">
            <a:avLst/>
          </a:prstGeom>
          <a:noFill/>
          <a:ln/>
        </p:spPr>
        <p:txBody>
          <a:bodyPr wrap="square" lIns="0" tIns="0" rIns="0" bIns="0" rtlCol="0" anchor="ctr"/>
          <a:lstStyle/>
          <a:p>
            <a:pPr algn="l" indent="0" marL="0">
              <a:buNone/>
            </a:pPr>
            <a:r>
              <a:rPr lang="en-US" sz="2200" b="1" dirty="0">
                <a:solidFill>
                  <a:srgbClr val="FFFFFF"/>
                </a:solidFill>
              </a:rPr>
              <a:t>200-CHARACTER DM</a:t>
            </a:r>
            <a:endParaRPr lang="en-US" sz="2200" dirty="0"/>
          </a:p>
        </p:txBody>
      </p:sp>
      <p:sp>
        <p:nvSpPr>
          <p:cNvPr id="5" name="Text 3"/>
          <p:cNvSpPr/>
          <p:nvPr/>
        </p:nvSpPr>
        <p:spPr>
          <a:xfrm>
            <a:off x="457200" y="566928"/>
            <a:ext cx="7315200" cy="274320"/>
          </a:xfrm>
          <a:prstGeom prst="rect">
            <a:avLst/>
          </a:prstGeom>
          <a:noFill/>
          <a:ln/>
        </p:spPr>
        <p:txBody>
          <a:bodyPr wrap="square" lIns="0" tIns="0" rIns="0" bIns="0" rtlCol="0" anchor="ctr"/>
          <a:lstStyle/>
          <a:p>
            <a:pPr algn="l" indent="0" marL="0">
              <a:buNone/>
            </a:pPr>
            <a:r>
              <a:rPr lang="en-US" sz="1100" dirty="0">
                <a:solidFill>
                  <a:srgbClr val="C9A84C"/>
                </a:solidFill>
              </a:rPr>
              <a:t>Instagram / Twitter / TikTok DM  |  Max impact, minimum words</a:t>
            </a:r>
            <a:endParaRPr lang="en-US" sz="1100" dirty="0"/>
          </a:p>
        </p:txBody>
      </p:sp>
      <p:sp>
        <p:nvSpPr>
          <p:cNvPr id="6" name="Shape 4"/>
          <p:cNvSpPr/>
          <p:nvPr/>
        </p:nvSpPr>
        <p:spPr>
          <a:xfrm>
            <a:off x="914400" y="1143000"/>
            <a:ext cx="7132320" cy="2011680"/>
          </a:xfrm>
          <a:prstGeom prst="roundRect">
            <a:avLst>
              <a:gd name="adj" fmla="val 11364"/>
            </a:avLst>
          </a:prstGeom>
          <a:solidFill>
            <a:srgbClr val="DCF8C6"/>
          </a:solidFill>
          <a:ln w="12700">
            <a:solidFill>
              <a:srgbClr val="B0D9A0"/>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1143000" y="1325880"/>
            <a:ext cx="6675120" cy="1645920"/>
          </a:xfrm>
          <a:prstGeom prst="rect">
            <a:avLst/>
          </a:prstGeom>
          <a:noFill/>
          <a:ln/>
        </p:spPr>
        <p:txBody>
          <a:bodyPr wrap="square" lIns="0" tIns="0" rIns="0" bIns="0" rtlCol="0" anchor="t"/>
          <a:lstStyle/>
          <a:p>
            <a:pPr algn="l" indent="0" marL="0">
              <a:buNone/>
            </a:pPr>
            <a:r>
              <a:rPr lang="en-US" sz="1800" dirty="0">
                <a:solidFill>
                  <a:srgbClr val="1A2744"/>
                </a:solidFill>
              </a:rPr>
              <a:t>Hey I started a clothing sub for college guys. Try pieces from Rhone, COS, Buck Mason, keep what you like, send back the rest. We're pre-launch, check it out?</a:t>
            </a:r>
            <a:endParaRPr lang="en-US" sz="1800" dirty="0"/>
          </a:p>
        </p:txBody>
      </p:sp>
      <p:sp>
        <p:nvSpPr>
          <p:cNvPr id="8" name="Shape 6"/>
          <p:cNvSpPr/>
          <p:nvPr/>
        </p:nvSpPr>
        <p:spPr>
          <a:xfrm>
            <a:off x="7223760" y="3063240"/>
            <a:ext cx="1005840" cy="347472"/>
          </a:xfrm>
          <a:prstGeom prst="roundRect">
            <a:avLst>
              <a:gd name="adj" fmla="val 26316"/>
            </a:avLst>
          </a:prstGeom>
          <a:solidFill>
            <a:srgbClr val="1A2744"/>
          </a:solidFill>
          <a:ln w="12700">
            <a:solidFill>
              <a:srgbClr val="1A2744"/>
            </a:solidFill>
            <a:prstDash val="solid"/>
          </a:ln>
        </p:spPr>
      </p:sp>
      <p:sp>
        <p:nvSpPr>
          <p:cNvPr id="9" name="Text 7"/>
          <p:cNvSpPr/>
          <p:nvPr/>
        </p:nvSpPr>
        <p:spPr>
          <a:xfrm>
            <a:off x="7223760" y="3063240"/>
            <a:ext cx="1005840" cy="347472"/>
          </a:xfrm>
          <a:prstGeom prst="rect">
            <a:avLst/>
          </a:prstGeom>
          <a:noFill/>
          <a:ln/>
        </p:spPr>
        <p:txBody>
          <a:bodyPr wrap="square" lIns="0" tIns="0" rIns="0" bIns="0" rtlCol="0" anchor="ctr"/>
          <a:lstStyle/>
          <a:p>
            <a:pPr algn="ctr" indent="0" marL="0">
              <a:buNone/>
            </a:pPr>
            <a:r>
              <a:rPr lang="en-US" sz="1000" b="1" dirty="0">
                <a:solidFill>
                  <a:srgbClr val="C9A84C"/>
                </a:solidFill>
              </a:rPr>
              <a:t>161 chars</a:t>
            </a:r>
            <a:endParaRPr lang="en-US" sz="1000" dirty="0"/>
          </a:p>
        </p:txBody>
      </p:sp>
      <p:sp>
        <p:nvSpPr>
          <p:cNvPr id="10" name="Text 8"/>
          <p:cNvSpPr/>
          <p:nvPr/>
        </p:nvSpPr>
        <p:spPr>
          <a:xfrm>
            <a:off x="914400" y="3429000"/>
            <a:ext cx="7315200" cy="365760"/>
          </a:xfrm>
          <a:prstGeom prst="rect">
            <a:avLst/>
          </a:prstGeom>
          <a:noFill/>
          <a:ln/>
        </p:spPr>
        <p:txBody>
          <a:bodyPr wrap="square" lIns="0" tIns="0" rIns="0" bIns="0" rtlCol="0" anchor="ctr"/>
          <a:lstStyle/>
          <a:p>
            <a:pPr algn="l" indent="0" marL="0">
              <a:buNone/>
            </a:pPr>
            <a:r>
              <a:rPr lang="en-US" sz="1200" dirty="0">
                <a:solidFill>
                  <a:srgbClr val="3D4F6B"/>
                </a:solidFill>
              </a:rPr>
              <a:t>✓ Under 200 characters  ✓ Casual &amp; direct  ✓ Clear CTA</a:t>
            </a:r>
            <a:endParaRPr lang="en-US" sz="1200" dirty="0"/>
          </a:p>
        </p:txBody>
      </p:sp>
      <p:sp>
        <p:nvSpPr>
          <p:cNvPr id="11" name="Shape 9"/>
          <p:cNvSpPr/>
          <p:nvPr/>
        </p:nvSpPr>
        <p:spPr>
          <a:xfrm>
            <a:off x="0" y="4800600"/>
            <a:ext cx="9144000" cy="342900"/>
          </a:xfrm>
          <a:prstGeom prst="rect">
            <a:avLst/>
          </a:prstGeom>
          <a:solidFill>
            <a:srgbClr val="1A2744"/>
          </a:solidFill>
          <a:ln w="12700">
            <a:solidFill>
              <a:srgbClr val="1A2744"/>
            </a:solidFill>
            <a:prstDash val="solid"/>
          </a:ln>
        </p:spPr>
      </p:sp>
      <p:sp>
        <p:nvSpPr>
          <p:cNvPr id="12" name="Text 10"/>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9A84C"/>
          </a:solidFill>
          <a:ln w="12700">
            <a:solidFill>
              <a:srgbClr val="C9A84C"/>
            </a:solidFill>
            <a:prstDash val="solid"/>
          </a:ln>
        </p:spPr>
      </p:sp>
      <p:sp>
        <p:nvSpPr>
          <p:cNvPr id="3" name="Text 1"/>
          <p:cNvSpPr/>
          <p:nvPr/>
        </p:nvSpPr>
        <p:spPr>
          <a:xfrm>
            <a:off x="640080" y="457200"/>
            <a:ext cx="7315200" cy="457200"/>
          </a:xfrm>
          <a:prstGeom prst="rect">
            <a:avLst/>
          </a:prstGeom>
          <a:noFill/>
          <a:ln/>
        </p:spPr>
        <p:txBody>
          <a:bodyPr wrap="square" lIns="0" tIns="0" rIns="0" bIns="0" rtlCol="0" anchor="ctr"/>
          <a:lstStyle/>
          <a:p>
            <a:pPr algn="l" indent="0" marL="0">
              <a:buNone/>
            </a:pPr>
            <a:r>
              <a:rPr lang="en-US" sz="1300" b="1" spc="400" kern="0" dirty="0">
                <a:solidFill>
                  <a:srgbClr val="C9A84C"/>
                </a:solidFill>
              </a:rPr>
              <a:t>INVESTOR ONE-LINER</a:t>
            </a:r>
            <a:endParaRPr lang="en-US" sz="1300" dirty="0"/>
          </a:p>
        </p:txBody>
      </p:sp>
      <p:sp>
        <p:nvSpPr>
          <p:cNvPr id="4" name="Text 2"/>
          <p:cNvSpPr/>
          <p:nvPr/>
        </p:nvSpPr>
        <p:spPr>
          <a:xfrm>
            <a:off x="640080" y="868680"/>
            <a:ext cx="6400800" cy="274320"/>
          </a:xfrm>
          <a:prstGeom prst="rect">
            <a:avLst/>
          </a:prstGeom>
          <a:noFill/>
          <a:ln/>
        </p:spPr>
        <p:txBody>
          <a:bodyPr wrap="square" lIns="0" tIns="0" rIns="0" bIns="0" rtlCol="0" anchor="ctr"/>
          <a:lstStyle/>
          <a:p>
            <a:pPr algn="l" indent="0" marL="0">
              <a:buNone/>
            </a:pPr>
            <a:r>
              <a:rPr lang="en-US" sz="1100" dirty="0">
                <a:solidFill>
                  <a:srgbClr val="8A9BBB"/>
                </a:solidFill>
              </a:rPr>
              <a:t>For pitch decks, intro emails, or networking events</a:t>
            </a:r>
            <a:endParaRPr lang="en-US" sz="1100" dirty="0"/>
          </a:p>
        </p:txBody>
      </p:sp>
      <p:sp>
        <p:nvSpPr>
          <p:cNvPr id="5" name="Text 3"/>
          <p:cNvSpPr/>
          <p:nvPr/>
        </p:nvSpPr>
        <p:spPr>
          <a:xfrm>
            <a:off x="640080" y="1417320"/>
            <a:ext cx="7772400" cy="2286000"/>
          </a:xfrm>
          <a:prstGeom prst="rect">
            <a:avLst/>
          </a:prstGeom>
          <a:noFill/>
          <a:ln/>
        </p:spPr>
        <p:txBody>
          <a:bodyPr wrap="square" lIns="0" tIns="0" rIns="0" bIns="0" rtlCol="0" anchor="ctr"/>
          <a:lstStyle/>
          <a:p>
            <a:pPr algn="l" indent="0" marL="0">
              <a:buNone/>
            </a:pPr>
            <a:r>
              <a:rPr lang="en-US" sz="2400" i="1" dirty="0">
                <a:solidFill>
                  <a:srgbClr val="FFFFFF"/>
                </a:solidFill>
              </a:rPr>
              <a:t>"Davenport is the first wardrobe subscription built for what college guys actually wear every day. Every other rental service went after formal wear. We went after the other 29 days of the month."</a:t>
            </a:r>
            <a:endParaRPr lang="en-US" sz="2400" dirty="0"/>
          </a:p>
        </p:txBody>
      </p:sp>
      <p:sp>
        <p:nvSpPr>
          <p:cNvPr id="6" name="Shape 4"/>
          <p:cNvSpPr/>
          <p:nvPr/>
        </p:nvSpPr>
        <p:spPr>
          <a:xfrm>
            <a:off x="640080" y="3703320"/>
            <a:ext cx="1920240" cy="960120"/>
          </a:xfrm>
          <a:prstGeom prst="rect">
            <a:avLst/>
          </a:prstGeom>
          <a:solidFill>
            <a:srgbClr val="3D4F6B"/>
          </a:solidFill>
          <a:ln w="12700">
            <a:solidFill>
              <a:srgbClr val="3D5080"/>
            </a:solidFill>
            <a:prstDash val="solid"/>
          </a:ln>
        </p:spPr>
      </p:sp>
      <p:sp>
        <p:nvSpPr>
          <p:cNvPr id="7" name="Text 5"/>
          <p:cNvSpPr/>
          <p:nvPr/>
        </p:nvSpPr>
        <p:spPr>
          <a:xfrm>
            <a:off x="640080" y="3749040"/>
            <a:ext cx="1920240" cy="502920"/>
          </a:xfrm>
          <a:prstGeom prst="rect">
            <a:avLst/>
          </a:prstGeom>
          <a:noFill/>
          <a:ln/>
        </p:spPr>
        <p:txBody>
          <a:bodyPr wrap="square" lIns="0" tIns="0" rIns="0" bIns="0" rtlCol="0" anchor="ctr"/>
          <a:lstStyle/>
          <a:p>
            <a:pPr algn="ctr" indent="0" marL="0">
              <a:buNone/>
            </a:pPr>
            <a:r>
              <a:rPr lang="en-US" sz="2800" b="1" dirty="0">
                <a:solidFill>
                  <a:srgbClr val="C9A84C"/>
                </a:solidFill>
              </a:rPr>
              <a:t>20M+</a:t>
            </a:r>
            <a:endParaRPr lang="en-US" sz="2800" dirty="0"/>
          </a:p>
        </p:txBody>
      </p:sp>
      <p:sp>
        <p:nvSpPr>
          <p:cNvPr id="8" name="Text 6"/>
          <p:cNvSpPr/>
          <p:nvPr/>
        </p:nvSpPr>
        <p:spPr>
          <a:xfrm>
            <a:off x="640080" y="4251960"/>
            <a:ext cx="1920240" cy="320040"/>
          </a:xfrm>
          <a:prstGeom prst="rect">
            <a:avLst/>
          </a:prstGeom>
          <a:noFill/>
          <a:ln/>
        </p:spPr>
        <p:txBody>
          <a:bodyPr wrap="square" lIns="0" tIns="0" rIns="0" bIns="0" rtlCol="0" anchor="ctr"/>
          <a:lstStyle/>
          <a:p>
            <a:pPr algn="ctr" indent="0" marL="0">
              <a:buNone/>
            </a:pPr>
            <a:r>
              <a:rPr lang="en-US" sz="1000" dirty="0">
                <a:solidFill>
                  <a:srgbClr val="8A9BBB"/>
                </a:solidFill>
              </a:rPr>
              <a:t>US college men</a:t>
            </a:r>
            <a:endParaRPr lang="en-US" sz="1000" dirty="0"/>
          </a:p>
        </p:txBody>
      </p:sp>
      <p:sp>
        <p:nvSpPr>
          <p:cNvPr id="9" name="Shape 7"/>
          <p:cNvSpPr/>
          <p:nvPr/>
        </p:nvSpPr>
        <p:spPr>
          <a:xfrm>
            <a:off x="2743200" y="3703320"/>
            <a:ext cx="1920240" cy="960120"/>
          </a:xfrm>
          <a:prstGeom prst="rect">
            <a:avLst/>
          </a:prstGeom>
          <a:solidFill>
            <a:srgbClr val="3D4F6B"/>
          </a:solidFill>
          <a:ln w="12700">
            <a:solidFill>
              <a:srgbClr val="3D5080"/>
            </a:solidFill>
            <a:prstDash val="solid"/>
          </a:ln>
        </p:spPr>
      </p:sp>
      <p:sp>
        <p:nvSpPr>
          <p:cNvPr id="10" name="Text 8"/>
          <p:cNvSpPr/>
          <p:nvPr/>
        </p:nvSpPr>
        <p:spPr>
          <a:xfrm>
            <a:off x="2743200" y="3749040"/>
            <a:ext cx="1920240" cy="502920"/>
          </a:xfrm>
          <a:prstGeom prst="rect">
            <a:avLst/>
          </a:prstGeom>
          <a:noFill/>
          <a:ln/>
        </p:spPr>
        <p:txBody>
          <a:bodyPr wrap="square" lIns="0" tIns="0" rIns="0" bIns="0" rtlCol="0" anchor="ctr"/>
          <a:lstStyle/>
          <a:p>
            <a:pPr algn="ctr" indent="0" marL="0">
              <a:buNone/>
            </a:pPr>
            <a:r>
              <a:rPr lang="en-US" sz="2800" b="1" dirty="0">
                <a:solidFill>
                  <a:srgbClr val="C9A84C"/>
                </a:solidFill>
              </a:rPr>
              <a:t>50+</a:t>
            </a:r>
            <a:endParaRPr lang="en-US" sz="2800" dirty="0"/>
          </a:p>
        </p:txBody>
      </p:sp>
      <p:sp>
        <p:nvSpPr>
          <p:cNvPr id="11" name="Text 9"/>
          <p:cNvSpPr/>
          <p:nvPr/>
        </p:nvSpPr>
        <p:spPr>
          <a:xfrm>
            <a:off x="2743200" y="4251960"/>
            <a:ext cx="1920240" cy="320040"/>
          </a:xfrm>
          <a:prstGeom prst="rect">
            <a:avLst/>
          </a:prstGeom>
          <a:noFill/>
          <a:ln/>
        </p:spPr>
        <p:txBody>
          <a:bodyPr wrap="square" lIns="0" tIns="0" rIns="0" bIns="0" rtlCol="0" anchor="ctr"/>
          <a:lstStyle/>
          <a:p>
            <a:pPr algn="ctr" indent="0" marL="0">
              <a:buNone/>
            </a:pPr>
            <a:r>
              <a:rPr lang="en-US" sz="1000" dirty="0">
                <a:solidFill>
                  <a:srgbClr val="8A9BBB"/>
                </a:solidFill>
              </a:rPr>
              <a:t>premium brands</a:t>
            </a:r>
            <a:endParaRPr lang="en-US" sz="1000" dirty="0"/>
          </a:p>
        </p:txBody>
      </p:sp>
      <p:sp>
        <p:nvSpPr>
          <p:cNvPr id="12" name="Shape 10"/>
          <p:cNvSpPr/>
          <p:nvPr/>
        </p:nvSpPr>
        <p:spPr>
          <a:xfrm>
            <a:off x="4846320" y="3703320"/>
            <a:ext cx="1920240" cy="960120"/>
          </a:xfrm>
          <a:prstGeom prst="rect">
            <a:avLst/>
          </a:prstGeom>
          <a:solidFill>
            <a:srgbClr val="3D4F6B"/>
          </a:solidFill>
          <a:ln w="12700">
            <a:solidFill>
              <a:srgbClr val="3D5080"/>
            </a:solidFill>
            <a:prstDash val="solid"/>
          </a:ln>
        </p:spPr>
      </p:sp>
      <p:sp>
        <p:nvSpPr>
          <p:cNvPr id="13" name="Text 11"/>
          <p:cNvSpPr/>
          <p:nvPr/>
        </p:nvSpPr>
        <p:spPr>
          <a:xfrm>
            <a:off x="4846320" y="3749040"/>
            <a:ext cx="1920240" cy="502920"/>
          </a:xfrm>
          <a:prstGeom prst="rect">
            <a:avLst/>
          </a:prstGeom>
          <a:noFill/>
          <a:ln/>
        </p:spPr>
        <p:txBody>
          <a:bodyPr wrap="square" lIns="0" tIns="0" rIns="0" bIns="0" rtlCol="0" anchor="ctr"/>
          <a:lstStyle/>
          <a:p>
            <a:pPr algn="ctr" indent="0" marL="0">
              <a:buNone/>
            </a:pPr>
            <a:r>
              <a:rPr lang="en-US" sz="2800" b="1" dirty="0">
                <a:solidFill>
                  <a:srgbClr val="C9A84C"/>
                </a:solidFill>
              </a:rPr>
              <a:t>92M</a:t>
            </a:r>
            <a:endParaRPr lang="en-US" sz="2800" dirty="0"/>
          </a:p>
        </p:txBody>
      </p:sp>
      <p:sp>
        <p:nvSpPr>
          <p:cNvPr id="14" name="Text 12"/>
          <p:cNvSpPr/>
          <p:nvPr/>
        </p:nvSpPr>
        <p:spPr>
          <a:xfrm>
            <a:off x="4846320" y="4251960"/>
            <a:ext cx="1920240" cy="320040"/>
          </a:xfrm>
          <a:prstGeom prst="rect">
            <a:avLst/>
          </a:prstGeom>
          <a:noFill/>
          <a:ln/>
        </p:spPr>
        <p:txBody>
          <a:bodyPr wrap="square" lIns="0" tIns="0" rIns="0" bIns="0" rtlCol="0" anchor="ctr"/>
          <a:lstStyle/>
          <a:p>
            <a:pPr algn="ctr" indent="0" marL="0">
              <a:buNone/>
            </a:pPr>
            <a:r>
              <a:rPr lang="en-US" sz="1000" dirty="0">
                <a:solidFill>
                  <a:srgbClr val="8A9BBB"/>
                </a:solidFill>
              </a:rPr>
              <a:t>tons textile waste/yr</a:t>
            </a:r>
            <a:endParaRPr lang="en-US" sz="1000" dirty="0"/>
          </a:p>
        </p:txBody>
      </p:sp>
      <p:sp>
        <p:nvSpPr>
          <p:cNvPr id="15" name="Shape 13"/>
          <p:cNvSpPr/>
          <p:nvPr/>
        </p:nvSpPr>
        <p:spPr>
          <a:xfrm>
            <a:off x="6949440" y="3703320"/>
            <a:ext cx="1920240" cy="960120"/>
          </a:xfrm>
          <a:prstGeom prst="rect">
            <a:avLst/>
          </a:prstGeom>
          <a:solidFill>
            <a:srgbClr val="3D4F6B"/>
          </a:solidFill>
          <a:ln w="12700">
            <a:solidFill>
              <a:srgbClr val="3D5080"/>
            </a:solidFill>
            <a:prstDash val="solid"/>
          </a:ln>
        </p:spPr>
      </p:sp>
      <p:sp>
        <p:nvSpPr>
          <p:cNvPr id="16" name="Text 14"/>
          <p:cNvSpPr/>
          <p:nvPr/>
        </p:nvSpPr>
        <p:spPr>
          <a:xfrm>
            <a:off x="6949440" y="3749040"/>
            <a:ext cx="1920240" cy="502920"/>
          </a:xfrm>
          <a:prstGeom prst="rect">
            <a:avLst/>
          </a:prstGeom>
          <a:noFill/>
          <a:ln/>
        </p:spPr>
        <p:txBody>
          <a:bodyPr wrap="square" lIns="0" tIns="0" rIns="0" bIns="0" rtlCol="0" anchor="ctr"/>
          <a:lstStyle/>
          <a:p>
            <a:pPr algn="ctr" indent="0" marL="0">
              <a:buNone/>
            </a:pPr>
            <a:r>
              <a:rPr lang="en-US" sz="2800" b="1" dirty="0">
                <a:solidFill>
                  <a:srgbClr val="C9A84C"/>
                </a:solidFill>
              </a:rPr>
              <a:t>$0</a:t>
            </a:r>
            <a:endParaRPr lang="en-US" sz="2800" dirty="0"/>
          </a:p>
        </p:txBody>
      </p:sp>
      <p:sp>
        <p:nvSpPr>
          <p:cNvPr id="17" name="Text 15"/>
          <p:cNvSpPr/>
          <p:nvPr/>
        </p:nvSpPr>
        <p:spPr>
          <a:xfrm>
            <a:off x="6949440" y="4251960"/>
            <a:ext cx="1920240" cy="320040"/>
          </a:xfrm>
          <a:prstGeom prst="rect">
            <a:avLst/>
          </a:prstGeom>
          <a:noFill/>
          <a:ln/>
        </p:spPr>
        <p:txBody>
          <a:bodyPr wrap="square" lIns="0" tIns="0" rIns="0" bIns="0" rtlCol="0" anchor="ctr"/>
          <a:lstStyle/>
          <a:p>
            <a:pPr algn="ctr" indent="0" marL="0">
              <a:buNone/>
            </a:pPr>
            <a:r>
              <a:rPr lang="en-US" sz="1000" dirty="0">
                <a:solidFill>
                  <a:srgbClr val="8A9BBB"/>
                </a:solidFill>
              </a:rPr>
              <a:t>buyer's remorse</a:t>
            </a:r>
            <a:endParaRPr lang="en-US" sz="1000" dirty="0"/>
          </a:p>
        </p:txBody>
      </p:sp>
      <p:sp>
        <p:nvSpPr>
          <p:cNvPr id="18" name="Shape 16"/>
          <p:cNvSpPr/>
          <p:nvPr/>
        </p:nvSpPr>
        <p:spPr>
          <a:xfrm>
            <a:off x="0" y="4800600"/>
            <a:ext cx="9144000" cy="342900"/>
          </a:xfrm>
          <a:prstGeom prst="rect">
            <a:avLst/>
          </a:prstGeom>
          <a:solidFill>
            <a:srgbClr val="C9A84C"/>
          </a:solidFill>
          <a:ln w="12700">
            <a:solidFill>
              <a:srgbClr val="C9A84C"/>
            </a:solidFill>
            <a:prstDash val="solid"/>
          </a:ln>
        </p:spPr>
      </p:sp>
      <p:sp>
        <p:nvSpPr>
          <p:cNvPr id="19" name="Text 17"/>
          <p:cNvSpPr/>
          <p:nvPr/>
        </p:nvSpPr>
        <p:spPr>
          <a:xfrm>
            <a:off x="640080" y="4800600"/>
            <a:ext cx="7315200" cy="342900"/>
          </a:xfrm>
          <a:prstGeom prst="rect">
            <a:avLst/>
          </a:prstGeom>
          <a:noFill/>
          <a:ln/>
        </p:spPr>
        <p:txBody>
          <a:bodyPr wrap="square" lIns="0" tIns="0" rIns="0" bIns="0" rtlCol="0" anchor="ctr"/>
          <a:lstStyle/>
          <a:p>
            <a:pPr algn="l" indent="0" marL="0">
              <a:buNone/>
            </a:pPr>
            <a:r>
              <a:rPr lang="en-US" sz="1100" b="1" dirty="0">
                <a:solidFill>
                  <a:srgbClr val="1A2744"/>
                </a:solidFill>
              </a:rPr>
              <a:t>davenport-v7.vercel.app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744"/>
          </a:solidFill>
          <a:ln w="12700">
            <a:solidFill>
              <a:srgbClr val="1A2744"/>
            </a:solidFill>
            <a:prstDash val="solid"/>
          </a:ln>
        </p:spPr>
      </p:sp>
      <p:sp>
        <p:nvSpPr>
          <p:cNvPr id="3" name="Shape 1"/>
          <p:cNvSpPr/>
          <p:nvPr/>
        </p:nvSpPr>
        <p:spPr>
          <a:xfrm>
            <a:off x="0" y="914400"/>
            <a:ext cx="9144000" cy="91440"/>
          </a:xfrm>
          <a:prstGeom prst="rect">
            <a:avLst/>
          </a:prstGeom>
          <a:solidFill>
            <a:srgbClr val="C9A84C"/>
          </a:solidFill>
          <a:ln w="12700">
            <a:solidFill>
              <a:srgbClr val="C9A84C"/>
            </a:solidFill>
            <a:prstDash val="solid"/>
          </a:ln>
        </p:spPr>
      </p:sp>
      <p:sp>
        <p:nvSpPr>
          <p:cNvPr id="4" name="Text 2"/>
          <p:cNvSpPr/>
          <p:nvPr/>
        </p:nvSpPr>
        <p:spPr>
          <a:xfrm>
            <a:off x="457200" y="137160"/>
            <a:ext cx="5486400" cy="411480"/>
          </a:xfrm>
          <a:prstGeom prst="rect">
            <a:avLst/>
          </a:prstGeom>
          <a:noFill/>
          <a:ln/>
        </p:spPr>
        <p:txBody>
          <a:bodyPr wrap="square" lIns="0" tIns="0" rIns="0" bIns="0" rtlCol="0" anchor="ctr"/>
          <a:lstStyle/>
          <a:p>
            <a:pPr algn="l" indent="0" marL="0">
              <a:buNone/>
            </a:pPr>
            <a:r>
              <a:rPr lang="en-US" sz="2200" b="1" dirty="0">
                <a:solidFill>
                  <a:srgbClr val="FFFFFF"/>
                </a:solidFill>
              </a:rPr>
              <a:t>TEXT / SMS PITCH</a:t>
            </a:r>
            <a:endParaRPr lang="en-US" sz="2200" dirty="0"/>
          </a:p>
        </p:txBody>
      </p:sp>
      <p:sp>
        <p:nvSpPr>
          <p:cNvPr id="5" name="Text 3"/>
          <p:cNvSpPr/>
          <p:nvPr/>
        </p:nvSpPr>
        <p:spPr>
          <a:xfrm>
            <a:off x="457200" y="566928"/>
            <a:ext cx="7315200" cy="274320"/>
          </a:xfrm>
          <a:prstGeom prst="rect">
            <a:avLst/>
          </a:prstGeom>
          <a:noFill/>
          <a:ln/>
        </p:spPr>
        <p:txBody>
          <a:bodyPr wrap="square" lIns="0" tIns="0" rIns="0" bIns="0" rtlCol="0" anchor="ctr"/>
          <a:lstStyle/>
          <a:p>
            <a:pPr algn="l" indent="0" marL="0">
              <a:buNone/>
            </a:pPr>
            <a:r>
              <a:rPr lang="en-US" sz="1100" dirty="0">
                <a:solidFill>
                  <a:srgbClr val="C9A84C"/>
                </a:solidFill>
              </a:rPr>
              <a:t>Warm contact, peer share, or campus ambassador outreach</a:t>
            </a:r>
            <a:endParaRPr lang="en-US" sz="1100" dirty="0"/>
          </a:p>
        </p:txBody>
      </p:sp>
      <p:sp>
        <p:nvSpPr>
          <p:cNvPr id="6" name="Shape 4"/>
          <p:cNvSpPr/>
          <p:nvPr/>
        </p:nvSpPr>
        <p:spPr>
          <a:xfrm>
            <a:off x="457200" y="1188720"/>
            <a:ext cx="5029200" cy="548640"/>
          </a:xfrm>
          <a:prstGeom prst="roundRect">
            <a:avLst>
              <a:gd name="adj" fmla="val 33333"/>
            </a:avLst>
          </a:prstGeom>
          <a:solidFill>
            <a:srgbClr val="E5E5EA"/>
          </a:solidFill>
          <a:ln w="12700">
            <a:solidFill>
              <a:srgbClr val="CCCCCC"/>
            </a:solidFill>
            <a:prstDash val="solid"/>
          </a:ln>
        </p:spPr>
      </p:sp>
      <p:sp>
        <p:nvSpPr>
          <p:cNvPr id="7" name="Text 5"/>
          <p:cNvSpPr/>
          <p:nvPr/>
        </p:nvSpPr>
        <p:spPr>
          <a:xfrm>
            <a:off x="594360" y="1234440"/>
            <a:ext cx="4754880" cy="457200"/>
          </a:xfrm>
          <a:prstGeom prst="rect">
            <a:avLst/>
          </a:prstGeom>
          <a:noFill/>
          <a:ln/>
        </p:spPr>
        <p:txBody>
          <a:bodyPr wrap="square" lIns="0" tIns="0" rIns="0" bIns="0" rtlCol="0" anchor="ctr"/>
          <a:lstStyle/>
          <a:p>
            <a:pPr algn="l" indent="0" marL="0">
              <a:buNone/>
            </a:pPr>
            <a:r>
              <a:rPr lang="en-US" sz="1300" dirty="0">
                <a:solidFill>
                  <a:srgbClr val="1A2744"/>
                </a:solidFill>
              </a:rPr>
              <a:t>yo have you heard of Davenport Wardrobe?</a:t>
            </a:r>
            <a:endParaRPr lang="en-US" sz="1300" dirty="0"/>
          </a:p>
        </p:txBody>
      </p:sp>
      <p:sp>
        <p:nvSpPr>
          <p:cNvPr id="8" name="Shape 6"/>
          <p:cNvSpPr/>
          <p:nvPr/>
        </p:nvSpPr>
        <p:spPr>
          <a:xfrm>
            <a:off x="3657600" y="1874520"/>
            <a:ext cx="5029200" cy="1097280"/>
          </a:xfrm>
          <a:prstGeom prst="roundRect">
            <a:avLst>
              <a:gd name="adj" fmla="val 16667"/>
            </a:avLst>
          </a:prstGeom>
          <a:solidFill>
            <a:srgbClr val="007AFF"/>
          </a:solidFill>
          <a:ln w="12700">
            <a:solidFill>
              <a:srgbClr val="007AFF"/>
            </a:solidFill>
            <a:prstDash val="solid"/>
          </a:ln>
        </p:spPr>
      </p:sp>
      <p:sp>
        <p:nvSpPr>
          <p:cNvPr id="9" name="Text 7"/>
          <p:cNvSpPr/>
          <p:nvPr/>
        </p:nvSpPr>
        <p:spPr>
          <a:xfrm>
            <a:off x="3794760" y="1920240"/>
            <a:ext cx="4754880" cy="1005840"/>
          </a:xfrm>
          <a:prstGeom prst="rect">
            <a:avLst/>
          </a:prstGeom>
          <a:noFill/>
          <a:ln/>
        </p:spPr>
        <p:txBody>
          <a:bodyPr wrap="square" lIns="0" tIns="0" rIns="0" bIns="0" rtlCol="0" anchor="t"/>
          <a:lstStyle/>
          <a:p>
            <a:pPr algn="l" indent="0" marL="0">
              <a:buNone/>
            </a:pPr>
            <a:r>
              <a:rPr lang="en-US" sz="1300" dirty="0">
                <a:solidFill>
                  <a:srgbClr val="FFFFFF"/>
                </a:solidFill>
              </a:rPr>
              <a:t>it's a clothing sub for college guys. you pick pieces from real brands, try them for a month, keep what you like, send back the rest. pretty simple</a:t>
            </a:r>
            <a:endParaRPr lang="en-US" sz="1300" dirty="0"/>
          </a:p>
        </p:txBody>
      </p:sp>
      <p:sp>
        <p:nvSpPr>
          <p:cNvPr id="10" name="Shape 8"/>
          <p:cNvSpPr/>
          <p:nvPr/>
        </p:nvSpPr>
        <p:spPr>
          <a:xfrm>
            <a:off x="457200" y="3108960"/>
            <a:ext cx="4114800" cy="502920"/>
          </a:xfrm>
          <a:prstGeom prst="roundRect">
            <a:avLst>
              <a:gd name="adj" fmla="val 36364"/>
            </a:avLst>
          </a:prstGeom>
          <a:solidFill>
            <a:srgbClr val="E5E5EA"/>
          </a:solidFill>
          <a:ln w="12700">
            <a:solidFill>
              <a:srgbClr val="CCCCCC"/>
            </a:solidFill>
            <a:prstDash val="solid"/>
          </a:ln>
        </p:spPr>
      </p:sp>
      <p:sp>
        <p:nvSpPr>
          <p:cNvPr id="11" name="Text 9"/>
          <p:cNvSpPr/>
          <p:nvPr/>
        </p:nvSpPr>
        <p:spPr>
          <a:xfrm>
            <a:off x="594360" y="3154680"/>
            <a:ext cx="3840480" cy="411480"/>
          </a:xfrm>
          <a:prstGeom prst="rect">
            <a:avLst/>
          </a:prstGeom>
          <a:noFill/>
          <a:ln/>
        </p:spPr>
        <p:txBody>
          <a:bodyPr wrap="square" lIns="0" tIns="0" rIns="0" bIns="0" rtlCol="0" anchor="ctr"/>
          <a:lstStyle/>
          <a:p>
            <a:pPr algn="l" indent="0" marL="0">
              <a:buNone/>
            </a:pPr>
            <a:r>
              <a:rPr lang="en-US" sz="1300" dirty="0">
                <a:solidFill>
                  <a:srgbClr val="1A2744"/>
                </a:solidFill>
              </a:rPr>
              <a:t>wait so I can just send stuff back??</a:t>
            </a:r>
            <a:endParaRPr lang="en-US" sz="1300" dirty="0"/>
          </a:p>
        </p:txBody>
      </p:sp>
      <p:sp>
        <p:nvSpPr>
          <p:cNvPr id="12" name="Shape 10"/>
          <p:cNvSpPr/>
          <p:nvPr/>
        </p:nvSpPr>
        <p:spPr>
          <a:xfrm>
            <a:off x="5303520" y="3703320"/>
            <a:ext cx="3474720" cy="594360"/>
          </a:xfrm>
          <a:prstGeom prst="roundRect">
            <a:avLst>
              <a:gd name="adj" fmla="val 30769"/>
            </a:avLst>
          </a:prstGeom>
          <a:solidFill>
            <a:srgbClr val="007AFF"/>
          </a:solidFill>
          <a:ln w="12700">
            <a:solidFill>
              <a:srgbClr val="007AFF"/>
            </a:solidFill>
            <a:prstDash val="solid"/>
          </a:ln>
        </p:spPr>
      </p:sp>
      <p:sp>
        <p:nvSpPr>
          <p:cNvPr id="13" name="Text 11"/>
          <p:cNvSpPr/>
          <p:nvPr/>
        </p:nvSpPr>
        <p:spPr>
          <a:xfrm>
            <a:off x="5440680" y="3749040"/>
            <a:ext cx="3200400" cy="502920"/>
          </a:xfrm>
          <a:prstGeom prst="rect">
            <a:avLst/>
          </a:prstGeom>
          <a:noFill/>
          <a:ln/>
        </p:spPr>
        <p:txBody>
          <a:bodyPr wrap="square" lIns="0" tIns="0" rIns="0" bIns="0" rtlCol="0" anchor="ctr"/>
          <a:lstStyle/>
          <a:p>
            <a:pPr algn="l" indent="0" marL="0">
              <a:buNone/>
            </a:pPr>
            <a:r>
              <a:rPr lang="en-US" sz="1300" dirty="0">
                <a:solidFill>
                  <a:srgbClr val="FFFFFF"/>
                </a:solidFill>
              </a:rPr>
              <a:t>Yep! davenport-v7.vercel.app</a:t>
            </a:r>
            <a:endParaRPr lang="en-US" sz="1300" dirty="0"/>
          </a:p>
        </p:txBody>
      </p:sp>
      <p:sp>
        <p:nvSpPr>
          <p:cNvPr id="14" name="Shape 12"/>
          <p:cNvSpPr/>
          <p:nvPr/>
        </p:nvSpPr>
        <p:spPr>
          <a:xfrm>
            <a:off x="0" y="4800600"/>
            <a:ext cx="9144000" cy="342900"/>
          </a:xfrm>
          <a:prstGeom prst="rect">
            <a:avLst/>
          </a:prstGeom>
          <a:solidFill>
            <a:srgbClr val="1A2744"/>
          </a:solidFill>
          <a:ln w="12700">
            <a:solidFill>
              <a:srgbClr val="1A2744"/>
            </a:solidFill>
            <a:prstDash val="solid"/>
          </a:ln>
        </p:spPr>
      </p:sp>
      <p:sp>
        <p:nvSpPr>
          <p:cNvPr id="15" name="Text 13"/>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1306C"/>
          </a:solidFill>
          <a:ln w="12700">
            <a:solidFill>
              <a:srgbClr val="E1306C"/>
            </a:solidFill>
            <a:prstDash val="solid"/>
          </a:ln>
        </p:spPr>
      </p:sp>
      <p:sp>
        <p:nvSpPr>
          <p:cNvPr id="3" name="Text 1"/>
          <p:cNvSpPr/>
          <p:nvPr/>
        </p:nvSpPr>
        <p:spPr>
          <a:xfrm>
            <a:off x="640080" y="365760"/>
            <a:ext cx="7315200" cy="457200"/>
          </a:xfrm>
          <a:prstGeom prst="rect">
            <a:avLst/>
          </a:prstGeom>
          <a:noFill/>
          <a:ln/>
        </p:spPr>
        <p:txBody>
          <a:bodyPr wrap="square" lIns="0" tIns="0" rIns="0" bIns="0" rtlCol="0" anchor="ctr"/>
          <a:lstStyle/>
          <a:p>
            <a:pPr algn="l" indent="0" marL="0">
              <a:buNone/>
            </a:pPr>
            <a:r>
              <a:rPr lang="en-US" sz="2000" b="1" dirty="0">
                <a:solidFill>
                  <a:srgbClr val="FFFFFF"/>
                </a:solidFill>
              </a:rPr>
              <a:t>INSTAGRAM / TIKTOK CAPTION</a:t>
            </a:r>
            <a:endParaRPr lang="en-US" sz="2000" dirty="0"/>
          </a:p>
        </p:txBody>
      </p:sp>
      <p:sp>
        <p:nvSpPr>
          <p:cNvPr id="4" name="Text 2"/>
          <p:cNvSpPr/>
          <p:nvPr/>
        </p:nvSpPr>
        <p:spPr>
          <a:xfrm>
            <a:off x="640080" y="777240"/>
            <a:ext cx="7315200" cy="274320"/>
          </a:xfrm>
          <a:prstGeom prst="rect">
            <a:avLst/>
          </a:prstGeom>
          <a:noFill/>
          <a:ln/>
        </p:spPr>
        <p:txBody>
          <a:bodyPr wrap="square" lIns="0" tIns="0" rIns="0" bIns="0" rtlCol="0" anchor="ctr"/>
          <a:lstStyle/>
          <a:p>
            <a:pPr algn="l" indent="0" marL="0">
              <a:buNone/>
            </a:pPr>
            <a:r>
              <a:rPr lang="en-US" sz="1100" dirty="0">
                <a:solidFill>
                  <a:srgbClr val="8A9BBB"/>
                </a:solidFill>
              </a:rPr>
              <a:t>Social post for campus influencer or brand account</a:t>
            </a:r>
            <a:endParaRPr lang="en-US" sz="1100" dirty="0"/>
          </a:p>
        </p:txBody>
      </p:sp>
      <p:sp>
        <p:nvSpPr>
          <p:cNvPr id="5" name="Shape 3"/>
          <p:cNvSpPr/>
          <p:nvPr/>
        </p:nvSpPr>
        <p:spPr>
          <a:xfrm>
            <a:off x="640080" y="1143000"/>
            <a:ext cx="7863840" cy="3520440"/>
          </a:xfrm>
          <a:prstGeom prst="rect">
            <a:avLst/>
          </a:prstGeom>
          <a:solidFill>
            <a:srgbClr val="1E1E2E"/>
          </a:solidFill>
          <a:ln w="12700">
            <a:solidFill>
              <a:srgbClr val="2E2E4E"/>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640080" y="1143000"/>
            <a:ext cx="7863840" cy="73152"/>
          </a:xfrm>
          <a:prstGeom prst="rect">
            <a:avLst/>
          </a:prstGeom>
          <a:solidFill>
            <a:srgbClr val="E1306C"/>
          </a:solidFill>
          <a:ln w="12700">
            <a:solidFill>
              <a:srgbClr val="E1306C"/>
            </a:solidFill>
            <a:prstDash val="solid"/>
          </a:ln>
        </p:spPr>
      </p:sp>
      <p:sp>
        <p:nvSpPr>
          <p:cNvPr id="7" name="Text 5"/>
          <p:cNvSpPr/>
          <p:nvPr/>
        </p:nvSpPr>
        <p:spPr>
          <a:xfrm>
            <a:off x="868680" y="1280160"/>
            <a:ext cx="7406640" cy="3246120"/>
          </a:xfrm>
          <a:prstGeom prst="rect">
            <a:avLst/>
          </a:prstGeom>
          <a:noFill/>
          <a:ln/>
        </p:spPr>
        <p:txBody>
          <a:bodyPr wrap="square" lIns="0" tIns="0" rIns="0" bIns="0" rtlCol="0" anchor="t"/>
          <a:lstStyle/>
          <a:p>
            <a:pPr algn="l" indent="0" marL="0">
              <a:buNone/>
            </a:pPr>
            <a:r>
              <a:rPr lang="en-US" sz="1300" dirty="0">
                <a:solidFill>
                  <a:srgbClr val="FFFFFF"/>
                </a:solidFill>
              </a:rPr>
              <a:t>stopped buying stuff i regret 🧳</a:t>
            </a:r>
            <a:endParaRPr lang="en-US" sz="1300" dirty="0"/>
          </a:p>
          <a:p>
            <a:pPr algn="l" indent="0" marL="0">
              <a:buNone/>
            </a:pPr>
            <a:endParaRPr lang="en-US" sz="1300" dirty="0"/>
          </a:p>
          <a:p>
            <a:pPr algn="l" indent="0" marL="0">
              <a:buNone/>
            </a:pPr>
            <a:r>
              <a:rPr lang="en-US" sz="1300" dirty="0">
                <a:solidFill>
                  <a:srgbClr val="FFFFFF"/>
                </a:solidFill>
              </a:rPr>
              <a:t>started using @davenportwardrobe and it actually changed how i shop. they send you a box, you wear it for a month, keep what you want, send back the rest. no more guessing on fit or wasting money on stuff you'll wear twice.</a:t>
            </a:r>
            <a:endParaRPr lang="en-US" sz="1300" dirty="0"/>
          </a:p>
          <a:p>
            <a:pPr algn="l" indent="0" marL="0">
              <a:buNone/>
            </a:pPr>
            <a:endParaRPr lang="en-US" sz="1300" dirty="0"/>
          </a:p>
          <a:p>
            <a:pPr algn="l" indent="0" marL="0">
              <a:buNone/>
            </a:pPr>
            <a:r>
              <a:rPr lang="en-US" sz="1300" dirty="0">
                <a:solidFill>
                  <a:srgbClr val="FFFFFF"/>
                </a:solidFill>
              </a:rPr>
              <a:t>college guys check it out fr 🔗 davenport-v7.vercel.app</a:t>
            </a:r>
            <a:endParaRPr lang="en-US" sz="1300" dirty="0"/>
          </a:p>
          <a:p>
            <a:pPr algn="l" indent="0" marL="0">
              <a:buNone/>
            </a:pPr>
            <a:endParaRPr lang="en-US" sz="1300" dirty="0"/>
          </a:p>
          <a:p>
            <a:pPr algn="l" indent="0" marL="0">
              <a:buNone/>
            </a:pPr>
            <a:r>
              <a:rPr lang="en-US" sz="1300" dirty="0">
                <a:solidFill>
                  <a:srgbClr val="FFFFFF"/>
                </a:solidFill>
              </a:rPr>
              <a:t>#DavenportWardrobe #CollegeStyle #MensFashion #CampusFits</a:t>
            </a:r>
            <a:endParaRPr lang="en-US" sz="1300" dirty="0"/>
          </a:p>
        </p:txBody>
      </p:sp>
      <p:sp>
        <p:nvSpPr>
          <p:cNvPr id="8" name="Shape 6"/>
          <p:cNvSpPr/>
          <p:nvPr/>
        </p:nvSpPr>
        <p:spPr>
          <a:xfrm>
            <a:off x="0" y="4800600"/>
            <a:ext cx="9144000" cy="342900"/>
          </a:xfrm>
          <a:prstGeom prst="rect">
            <a:avLst/>
          </a:prstGeom>
          <a:solidFill>
            <a:srgbClr val="E1306C"/>
          </a:solidFill>
          <a:ln w="12700">
            <a:solidFill>
              <a:srgbClr val="E1306C"/>
            </a:solidFill>
            <a:prstDash val="solid"/>
          </a:ln>
        </p:spPr>
      </p:sp>
      <p:sp>
        <p:nvSpPr>
          <p:cNvPr id="9" name="Text 7"/>
          <p:cNvSpPr/>
          <p:nvPr/>
        </p:nvSpPr>
        <p:spPr>
          <a:xfrm>
            <a:off x="640080" y="4800600"/>
            <a:ext cx="8229600" cy="342900"/>
          </a:xfrm>
          <a:prstGeom prst="rect">
            <a:avLst/>
          </a:prstGeom>
          <a:noFill/>
          <a:ln/>
        </p:spPr>
        <p:txBody>
          <a:bodyPr wrap="square" lIns="0" tIns="0" rIns="0" bIns="0" rtlCol="0" anchor="ctr"/>
          <a:lstStyle/>
          <a:p>
            <a:pPr algn="l" indent="0" marL="0">
              <a:buNone/>
            </a:pPr>
            <a:r>
              <a:rPr lang="en-US" sz="1000" dirty="0">
                <a:solidFill>
                  <a:srgbClr val="FFFFFF"/>
                </a:solidFill>
              </a:rPr>
              <a:t>@davenportwardrobe  |  Instagram &amp; TikTok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744"/>
          </a:solidFill>
          <a:ln w="12700">
            <a:solidFill>
              <a:srgbClr val="1A2744"/>
            </a:solidFill>
            <a:prstDash val="solid"/>
          </a:ln>
        </p:spPr>
      </p:sp>
      <p:sp>
        <p:nvSpPr>
          <p:cNvPr id="3" name="Shape 1"/>
          <p:cNvSpPr/>
          <p:nvPr/>
        </p:nvSpPr>
        <p:spPr>
          <a:xfrm>
            <a:off x="0" y="914400"/>
            <a:ext cx="9144000" cy="91440"/>
          </a:xfrm>
          <a:prstGeom prst="rect">
            <a:avLst/>
          </a:prstGeom>
          <a:solidFill>
            <a:srgbClr val="C9A84C"/>
          </a:solidFill>
          <a:ln w="12700">
            <a:solidFill>
              <a:srgbClr val="C9A84C"/>
            </a:solidFill>
            <a:prstDash val="solid"/>
          </a:ln>
        </p:spPr>
      </p:sp>
      <p:sp>
        <p:nvSpPr>
          <p:cNvPr id="4" name="Text 2"/>
          <p:cNvSpPr/>
          <p:nvPr/>
        </p:nvSpPr>
        <p:spPr>
          <a:xfrm>
            <a:off x="457200" y="137160"/>
            <a:ext cx="6400800" cy="411480"/>
          </a:xfrm>
          <a:prstGeom prst="rect">
            <a:avLst/>
          </a:prstGeom>
          <a:noFill/>
          <a:ln/>
        </p:spPr>
        <p:txBody>
          <a:bodyPr wrap="square" lIns="0" tIns="0" rIns="0" bIns="0" rtlCol="0" anchor="ctr"/>
          <a:lstStyle/>
          <a:p>
            <a:pPr algn="l" indent="0" marL="0">
              <a:buNone/>
            </a:pPr>
            <a:r>
              <a:rPr lang="en-US" sz="2200" b="1" dirty="0">
                <a:solidFill>
                  <a:srgbClr val="FFFFFF"/>
                </a:solidFill>
              </a:rPr>
              <a:t>COLD CALL / PHONE SCRIPT</a:t>
            </a:r>
            <a:endParaRPr lang="en-US" sz="2200" dirty="0"/>
          </a:p>
        </p:txBody>
      </p:sp>
      <p:sp>
        <p:nvSpPr>
          <p:cNvPr id="5" name="Text 3"/>
          <p:cNvSpPr/>
          <p:nvPr/>
        </p:nvSpPr>
        <p:spPr>
          <a:xfrm>
            <a:off x="457200" y="566928"/>
            <a:ext cx="7315200" cy="274320"/>
          </a:xfrm>
          <a:prstGeom prst="rect">
            <a:avLst/>
          </a:prstGeom>
          <a:noFill/>
          <a:ln/>
        </p:spPr>
        <p:txBody>
          <a:bodyPr wrap="square" lIns="0" tIns="0" rIns="0" bIns="0" rtlCol="0" anchor="ctr"/>
          <a:lstStyle/>
          <a:p>
            <a:pPr algn="l" indent="0" marL="0">
              <a:buNone/>
            </a:pPr>
            <a:r>
              <a:rPr lang="en-US" sz="1100" dirty="0">
                <a:solidFill>
                  <a:srgbClr val="C9A84C"/>
                </a:solidFill>
              </a:rPr>
              <a:t>Partners, vendors, campus reps, or investors</a:t>
            </a:r>
            <a:endParaRPr lang="en-US" sz="1100" dirty="0"/>
          </a:p>
        </p:txBody>
      </p:sp>
      <p:sp>
        <p:nvSpPr>
          <p:cNvPr id="6" name="Shape 4"/>
          <p:cNvSpPr/>
          <p:nvPr/>
        </p:nvSpPr>
        <p:spPr>
          <a:xfrm>
            <a:off x="457200" y="1097280"/>
            <a:ext cx="1005840" cy="384048"/>
          </a:xfrm>
          <a:prstGeom prst="rect">
            <a:avLst/>
          </a:prstGeom>
          <a:solidFill>
            <a:srgbClr val="1A2744"/>
          </a:solidFill>
          <a:ln w="12700">
            <a:solidFill>
              <a:srgbClr val="1A2744"/>
            </a:solidFill>
            <a:prstDash val="solid"/>
          </a:ln>
        </p:spPr>
      </p:sp>
      <p:sp>
        <p:nvSpPr>
          <p:cNvPr id="7" name="Text 5"/>
          <p:cNvSpPr/>
          <p:nvPr/>
        </p:nvSpPr>
        <p:spPr>
          <a:xfrm>
            <a:off x="457200" y="1097280"/>
            <a:ext cx="1005840" cy="384048"/>
          </a:xfrm>
          <a:prstGeom prst="rect">
            <a:avLst/>
          </a:prstGeom>
          <a:noFill/>
          <a:ln/>
        </p:spPr>
        <p:txBody>
          <a:bodyPr wrap="square" lIns="0" tIns="0" rIns="0" bIns="0" rtlCol="0" anchor="ctr"/>
          <a:lstStyle/>
          <a:p>
            <a:pPr algn="ctr" indent="0" marL="0">
              <a:buNone/>
            </a:pPr>
            <a:r>
              <a:rPr lang="en-US" sz="850" b="1" dirty="0">
                <a:solidFill>
                  <a:srgbClr val="C9A84C"/>
                </a:solidFill>
              </a:rPr>
              <a:t>OPENER</a:t>
            </a:r>
            <a:endParaRPr lang="en-US" sz="850" dirty="0"/>
          </a:p>
        </p:txBody>
      </p:sp>
      <p:sp>
        <p:nvSpPr>
          <p:cNvPr id="8" name="Shape 6"/>
          <p:cNvSpPr/>
          <p:nvPr/>
        </p:nvSpPr>
        <p:spPr>
          <a:xfrm>
            <a:off x="1463040" y="1097280"/>
            <a:ext cx="7406640" cy="384048"/>
          </a:xfrm>
          <a:prstGeom prst="rect">
            <a:avLst/>
          </a:prstGeom>
          <a:solidFill>
            <a:srgbClr val="FAF7F2"/>
          </a:solidFill>
          <a:ln w="12700">
            <a:solidFill>
              <a:srgbClr val="D9D2C5"/>
            </a:solidFill>
            <a:prstDash val="solid"/>
          </a:ln>
        </p:spPr>
      </p:sp>
      <p:sp>
        <p:nvSpPr>
          <p:cNvPr id="9" name="Text 7"/>
          <p:cNvSpPr/>
          <p:nvPr/>
        </p:nvSpPr>
        <p:spPr>
          <a:xfrm>
            <a:off x="1600200" y="1115568"/>
            <a:ext cx="7132320" cy="347472"/>
          </a:xfrm>
          <a:prstGeom prst="rect">
            <a:avLst/>
          </a:prstGeom>
          <a:noFill/>
          <a:ln/>
        </p:spPr>
        <p:txBody>
          <a:bodyPr wrap="square" lIns="0" tIns="0" rIns="0" bIns="0" rtlCol="0" anchor="ctr"/>
          <a:lstStyle/>
          <a:p>
            <a:pPr algn="l" indent="0" marL="0">
              <a:buNone/>
            </a:pPr>
            <a:r>
              <a:rPr lang="en-US" sz="1200" i="1" dirty="0">
                <a:solidFill>
                  <a:srgbClr val="1A2744"/>
                </a:solidFill>
              </a:rPr>
              <a:t>"Hey [Name], my name is [You], I'm a college student and I started a company called Davenport Wardrobe. Do you have like 60 seconds?"</a:t>
            </a:r>
            <a:endParaRPr lang="en-US" sz="1200" dirty="0"/>
          </a:p>
        </p:txBody>
      </p:sp>
      <p:sp>
        <p:nvSpPr>
          <p:cNvPr id="10" name="Shape 8"/>
          <p:cNvSpPr/>
          <p:nvPr/>
        </p:nvSpPr>
        <p:spPr>
          <a:xfrm>
            <a:off x="457200" y="2011680"/>
            <a:ext cx="1005840" cy="384048"/>
          </a:xfrm>
          <a:prstGeom prst="rect">
            <a:avLst/>
          </a:prstGeom>
          <a:solidFill>
            <a:srgbClr val="1A2744"/>
          </a:solidFill>
          <a:ln w="12700">
            <a:solidFill>
              <a:srgbClr val="1A2744"/>
            </a:solidFill>
            <a:prstDash val="solid"/>
          </a:ln>
        </p:spPr>
      </p:sp>
      <p:sp>
        <p:nvSpPr>
          <p:cNvPr id="11" name="Text 9"/>
          <p:cNvSpPr/>
          <p:nvPr/>
        </p:nvSpPr>
        <p:spPr>
          <a:xfrm>
            <a:off x="457200" y="2011680"/>
            <a:ext cx="1005840" cy="384048"/>
          </a:xfrm>
          <a:prstGeom prst="rect">
            <a:avLst/>
          </a:prstGeom>
          <a:noFill/>
          <a:ln/>
        </p:spPr>
        <p:txBody>
          <a:bodyPr wrap="square" lIns="0" tIns="0" rIns="0" bIns="0" rtlCol="0" anchor="ctr"/>
          <a:lstStyle/>
          <a:p>
            <a:pPr algn="ctr" indent="0" marL="0">
              <a:buNone/>
            </a:pPr>
            <a:r>
              <a:rPr lang="en-US" sz="850" b="1" dirty="0">
                <a:solidFill>
                  <a:srgbClr val="C9A84C"/>
                </a:solidFill>
              </a:rPr>
              <a:t>HOOK</a:t>
            </a:r>
            <a:endParaRPr lang="en-US" sz="850" dirty="0"/>
          </a:p>
        </p:txBody>
      </p:sp>
      <p:sp>
        <p:nvSpPr>
          <p:cNvPr id="12" name="Shape 10"/>
          <p:cNvSpPr/>
          <p:nvPr/>
        </p:nvSpPr>
        <p:spPr>
          <a:xfrm>
            <a:off x="1463040" y="2011680"/>
            <a:ext cx="7406640" cy="384048"/>
          </a:xfrm>
          <a:prstGeom prst="rect">
            <a:avLst/>
          </a:prstGeom>
          <a:solidFill>
            <a:srgbClr val="FAF7F2"/>
          </a:solidFill>
          <a:ln w="12700">
            <a:solidFill>
              <a:srgbClr val="D9D2C5"/>
            </a:solidFill>
            <a:prstDash val="solid"/>
          </a:ln>
        </p:spPr>
      </p:sp>
      <p:sp>
        <p:nvSpPr>
          <p:cNvPr id="13" name="Text 11"/>
          <p:cNvSpPr/>
          <p:nvPr/>
        </p:nvSpPr>
        <p:spPr>
          <a:xfrm>
            <a:off x="1600200" y="2029968"/>
            <a:ext cx="7132320" cy="347472"/>
          </a:xfrm>
          <a:prstGeom prst="rect">
            <a:avLst/>
          </a:prstGeom>
          <a:noFill/>
          <a:ln/>
        </p:spPr>
        <p:txBody>
          <a:bodyPr wrap="square" lIns="0" tIns="0" rIns="0" bIns="0" rtlCol="0" anchor="ctr"/>
          <a:lstStyle/>
          <a:p>
            <a:pPr algn="l" indent="0" marL="0">
              <a:buNone/>
            </a:pPr>
            <a:r>
              <a:rPr lang="en-US" sz="1200" i="1" dirty="0">
                <a:solidFill>
                  <a:srgbClr val="1A2744"/>
                </a:solidFill>
              </a:rPr>
              <a:t>"So basically it's a clothing subscription for college guys. You pick pieces from brands like Rhone or Buck Mason, we ship them to you, you wear them for a month, and keep what you want."</a:t>
            </a:r>
            <a:endParaRPr lang="en-US" sz="1200" dirty="0"/>
          </a:p>
        </p:txBody>
      </p:sp>
      <p:sp>
        <p:nvSpPr>
          <p:cNvPr id="14" name="Shape 12"/>
          <p:cNvSpPr/>
          <p:nvPr/>
        </p:nvSpPr>
        <p:spPr>
          <a:xfrm>
            <a:off x="457200" y="2926080"/>
            <a:ext cx="1005840" cy="384048"/>
          </a:xfrm>
          <a:prstGeom prst="rect">
            <a:avLst/>
          </a:prstGeom>
          <a:solidFill>
            <a:srgbClr val="1A2744"/>
          </a:solidFill>
          <a:ln w="12700">
            <a:solidFill>
              <a:srgbClr val="1A2744"/>
            </a:solidFill>
            <a:prstDash val="solid"/>
          </a:ln>
        </p:spPr>
      </p:sp>
      <p:sp>
        <p:nvSpPr>
          <p:cNvPr id="15" name="Text 13"/>
          <p:cNvSpPr/>
          <p:nvPr/>
        </p:nvSpPr>
        <p:spPr>
          <a:xfrm>
            <a:off x="457200" y="2926080"/>
            <a:ext cx="1005840" cy="384048"/>
          </a:xfrm>
          <a:prstGeom prst="rect">
            <a:avLst/>
          </a:prstGeom>
          <a:noFill/>
          <a:ln/>
        </p:spPr>
        <p:txBody>
          <a:bodyPr wrap="square" lIns="0" tIns="0" rIns="0" bIns="0" rtlCol="0" anchor="ctr"/>
          <a:lstStyle/>
          <a:p>
            <a:pPr algn="ctr" indent="0" marL="0">
              <a:buNone/>
            </a:pPr>
            <a:r>
              <a:rPr lang="en-US" sz="850" b="1" dirty="0">
                <a:solidFill>
                  <a:srgbClr val="C9A84C"/>
                </a:solidFill>
              </a:rPr>
              <a:t>THE ASK</a:t>
            </a:r>
            <a:endParaRPr lang="en-US" sz="850" dirty="0"/>
          </a:p>
        </p:txBody>
      </p:sp>
      <p:sp>
        <p:nvSpPr>
          <p:cNvPr id="16" name="Shape 14"/>
          <p:cNvSpPr/>
          <p:nvPr/>
        </p:nvSpPr>
        <p:spPr>
          <a:xfrm>
            <a:off x="1463040" y="2926080"/>
            <a:ext cx="7406640" cy="384048"/>
          </a:xfrm>
          <a:prstGeom prst="rect">
            <a:avLst/>
          </a:prstGeom>
          <a:solidFill>
            <a:srgbClr val="FAF7F2"/>
          </a:solidFill>
          <a:ln w="12700">
            <a:solidFill>
              <a:srgbClr val="D9D2C5"/>
            </a:solidFill>
            <a:prstDash val="solid"/>
          </a:ln>
        </p:spPr>
      </p:sp>
      <p:sp>
        <p:nvSpPr>
          <p:cNvPr id="17" name="Text 15"/>
          <p:cNvSpPr/>
          <p:nvPr/>
        </p:nvSpPr>
        <p:spPr>
          <a:xfrm>
            <a:off x="1600200" y="2944368"/>
            <a:ext cx="7132320" cy="347472"/>
          </a:xfrm>
          <a:prstGeom prst="rect">
            <a:avLst/>
          </a:prstGeom>
          <a:noFill/>
          <a:ln/>
        </p:spPr>
        <p:txBody>
          <a:bodyPr wrap="square" lIns="0" tIns="0" rIns="0" bIns="0" rtlCol="0" anchor="ctr"/>
          <a:lstStyle/>
          <a:p>
            <a:pPr algn="l" indent="0" marL="0">
              <a:buNone/>
            </a:pPr>
            <a:r>
              <a:rPr lang="en-US" sz="1200" i="1" dirty="0">
                <a:solidFill>
                  <a:srgbClr val="1A2744"/>
                </a:solidFill>
              </a:rPr>
              <a:t>"We're pre-launch right now and I think there's actually a real connection between what you're doing and what we're building. I'd love to jump on a quick call."</a:t>
            </a:r>
            <a:endParaRPr lang="en-US" sz="1200" dirty="0"/>
          </a:p>
        </p:txBody>
      </p:sp>
      <p:sp>
        <p:nvSpPr>
          <p:cNvPr id="18" name="Shape 16"/>
          <p:cNvSpPr/>
          <p:nvPr/>
        </p:nvSpPr>
        <p:spPr>
          <a:xfrm>
            <a:off x="457200" y="3840480"/>
            <a:ext cx="1005840" cy="384048"/>
          </a:xfrm>
          <a:prstGeom prst="rect">
            <a:avLst/>
          </a:prstGeom>
          <a:solidFill>
            <a:srgbClr val="1A2744"/>
          </a:solidFill>
          <a:ln w="12700">
            <a:solidFill>
              <a:srgbClr val="1A2744"/>
            </a:solidFill>
            <a:prstDash val="solid"/>
          </a:ln>
        </p:spPr>
      </p:sp>
      <p:sp>
        <p:nvSpPr>
          <p:cNvPr id="19" name="Text 17"/>
          <p:cNvSpPr/>
          <p:nvPr/>
        </p:nvSpPr>
        <p:spPr>
          <a:xfrm>
            <a:off x="457200" y="3840480"/>
            <a:ext cx="1005840" cy="384048"/>
          </a:xfrm>
          <a:prstGeom prst="rect">
            <a:avLst/>
          </a:prstGeom>
          <a:noFill/>
          <a:ln/>
        </p:spPr>
        <p:txBody>
          <a:bodyPr wrap="square" lIns="0" tIns="0" rIns="0" bIns="0" rtlCol="0" anchor="ctr"/>
          <a:lstStyle/>
          <a:p>
            <a:pPr algn="ctr" indent="0" marL="0">
              <a:buNone/>
            </a:pPr>
            <a:r>
              <a:rPr lang="en-US" sz="850" b="1" dirty="0">
                <a:solidFill>
                  <a:srgbClr val="C9A84C"/>
                </a:solidFill>
              </a:rPr>
              <a:t>CLOSE</a:t>
            </a:r>
            <a:endParaRPr lang="en-US" sz="850" dirty="0"/>
          </a:p>
        </p:txBody>
      </p:sp>
      <p:sp>
        <p:nvSpPr>
          <p:cNvPr id="20" name="Shape 18"/>
          <p:cNvSpPr/>
          <p:nvPr/>
        </p:nvSpPr>
        <p:spPr>
          <a:xfrm>
            <a:off x="1463040" y="3840480"/>
            <a:ext cx="7406640" cy="384048"/>
          </a:xfrm>
          <a:prstGeom prst="rect">
            <a:avLst/>
          </a:prstGeom>
          <a:solidFill>
            <a:srgbClr val="FAF7F2"/>
          </a:solidFill>
          <a:ln w="12700">
            <a:solidFill>
              <a:srgbClr val="D9D2C5"/>
            </a:solidFill>
            <a:prstDash val="solid"/>
          </a:ln>
        </p:spPr>
      </p:sp>
      <p:sp>
        <p:nvSpPr>
          <p:cNvPr id="21" name="Text 19"/>
          <p:cNvSpPr/>
          <p:nvPr/>
        </p:nvSpPr>
        <p:spPr>
          <a:xfrm>
            <a:off x="1600200" y="3858768"/>
            <a:ext cx="7132320" cy="347472"/>
          </a:xfrm>
          <a:prstGeom prst="rect">
            <a:avLst/>
          </a:prstGeom>
          <a:noFill/>
          <a:ln/>
        </p:spPr>
        <p:txBody>
          <a:bodyPr wrap="square" lIns="0" tIns="0" rIns="0" bIns="0" rtlCol="0" anchor="ctr"/>
          <a:lstStyle/>
          <a:p>
            <a:pPr algn="l" indent="0" marL="0">
              <a:buNone/>
            </a:pPr>
            <a:r>
              <a:rPr lang="en-US" sz="1200" i="1" dirty="0">
                <a:solidFill>
                  <a:srgbClr val="1A2744"/>
                </a:solidFill>
              </a:rPr>
              <a:t>"Does this week work at all? Even just 15 minutes would be great."</a:t>
            </a:r>
            <a:endParaRPr lang="en-US" sz="1200" dirty="0"/>
          </a:p>
        </p:txBody>
      </p:sp>
      <p:sp>
        <p:nvSpPr>
          <p:cNvPr id="22" name="Shape 20"/>
          <p:cNvSpPr/>
          <p:nvPr/>
        </p:nvSpPr>
        <p:spPr>
          <a:xfrm>
            <a:off x="0" y="4800600"/>
            <a:ext cx="9144000" cy="342900"/>
          </a:xfrm>
          <a:prstGeom prst="rect">
            <a:avLst/>
          </a:prstGeom>
          <a:solidFill>
            <a:srgbClr val="1A2744"/>
          </a:solidFill>
          <a:ln w="12700">
            <a:solidFill>
              <a:srgbClr val="1A2744"/>
            </a:solidFill>
            <a:prstDash val="solid"/>
          </a:ln>
        </p:spPr>
      </p:sp>
      <p:sp>
        <p:nvSpPr>
          <p:cNvPr id="23" name="Text 21"/>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1000" dirty="0">
                <a:solidFill>
                  <a:srgbClr val="8A9BBB"/>
                </a:solidFill>
              </a:rPr>
              <a:t>Davenport Wardrobe  |  Discover. Wear. Own.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Davenport Wardrobe — Pitch Deck</dc:title>
  <dc:subject>PptxGenJS Presentation</dc:subject>
  <dc:creator>PptxGenJS</dc:creator>
  <cp:lastModifiedBy>PptxGenJS</cp:lastModifiedBy>
  <cp:revision>1</cp:revision>
  <dcterms:created xsi:type="dcterms:W3CDTF">2026-03-17T03:42:01Z</dcterms:created>
  <dcterms:modified xsi:type="dcterms:W3CDTF">2026-03-17T03:42:01Z</dcterms:modified>
</cp:coreProperties>
</file>